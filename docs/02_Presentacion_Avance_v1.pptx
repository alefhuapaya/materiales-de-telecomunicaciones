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2abf8dd-870f-a5b3-b6b7-0933f89cedd7}">
          <p14:sldIdLst>
            <p14:sldId id="256"/>
          </p14:sldIdLst>
        </p14:section>
        <p14:section name="Resumen" id="{27a976cf-3958-3707-09d6-8925b2c4e5c6}">
          <p14:sldIdLst>
            <p14:sldId id="257"/>
          </p14:sldIdLst>
        </p14:section>
        <p14:section name="Diagnóstico" id="{ba2ca152-6d59-294c-dafb-6f20ddcf1fba}">
          <p14:sldIdLst>
            <p14:sldId id="258"/>
            <p14:sldId id="259"/>
            <p14:sldId id="260"/>
          </p14:sldIdLst>
        </p14:section>
        <p14:section name="Diseño" id="{178be90e-3e3c-b1e4-47be-2dfce65901d8}">
          <p14:sldIdLst>
            <p14:sldId id="261"/>
            <p14:sldId id="262"/>
            <p14:sldId id="263"/>
            <p14:sldId id="264"/>
          </p14:sldIdLst>
        </p14:section>
        <p14:section name="Plan" id="{1892e630-deba-8c49-6a41-bb493a85218c}">
          <p14:sldIdLst>
            <p14:sldId id="265"/>
            <p14:sldId id="266"/>
          </p14:sldIdLst>
        </p14:section>
        <p14:section name="Cierre" id="{044e466b-17c8-fd4d-d57f-a2c0ac6acca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A4A"/>
                </a:solidFill>
                <a:latin typeface="+mn-lt"/>
              </a:rPr>
              <a:t>12 puntos de mejora por prioridad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Puntos de mejora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C98A10"/>
              </a:solidFill>
              <a:effectLst/>
            </c:spPr>
          </c:dPt>
          <c:dPt>
            <c:idx val="2"/>
            <c:bubble3D val="0"/>
            <c:spPr>
              <a:solidFill>
                <a:srgbClr val="3C8D4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Alta</c:v>
                </c:pt>
                <c:pt idx="1">
                  <c:v>Media</c:v>
                </c:pt>
                <c:pt idx="2">
                  <c:v>Baja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B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del análisis del flujo de materiales: qué se levantó, qué problemas se priorizaron, qué se diseñó y qué falta para pasar al prototipo.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el flujo actual está mapeado, los 12 problemas están priorizados con una propuesta concreta, definimos los archivos de control y ya hay una herramienta funcionando. Falta la data de ejemplo para construir el prototipo.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etiquetas P1–P9 marcan en qué etapa aparece cada problema. Rojo es prioridad alta, ámbar media y verde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siete puntos son los que más afectan hoy: control interno (P1), solicitudes que se caen (P2), visibilidad de stock (P3), puntualidad (P5), conciliación con contratistas (P6) y traspasos (P8). P2-bis es la regla clave para la fibra.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puntos ordenan el proceso y alimentan la conciliación. El 2-B es la solicitud masiva, que se detalla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solicitud se arma por enlace y por tramo. Se suman lotes del mismo SKU, pero solo donde hay un empalme previsto. En Oracle esto se apoya en el control de lotes y en la selección de lotes al asignar la orden de movimiento.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abrir herramientas/simulador_lotes_fibra.html en el navegador. Cambiar la reserva técnica o los metros y ver cómo cambia qué enlaces se despachan.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cable se puede pedir de forma automática porque sale directo de la ruta. Para SFP, tarjetas, antenas, RRU y BBU conviene un kit base más una solicitud complementaria. El factor del KMZ se calibra comparando con el consumo real del RPT.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archivo tiene una frecuencia de actualización. El tablero central junta el stock de Oracle, las solicitudes en curso y el stock por contratista, y es una victoria rápida que no requiere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victorias rápidas se pueden empezar ya porque no dependen de TI. La configuración de Oracle requiere un pedido formal a TI, y la fase estructural también involucra a Legal y Compras por los contratos.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estos indicadores se mide el antes y el después. Las metas en naranja salen de las propuestas; las demás se fijan con la línea base que obtengamos del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avanzar al prototipo necesitamos la data de ejemplo y confirmar la versión de Oracle. Mientras tanto, las victorias rápidas se pueden empezar sin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Flujo de materiales de telecomunicaciones · Avance v1 · octubre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Flujo de materiales de telecomunicaciones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Avance del análisis y diseño · versión 1 · octubre 2026</a:t>
            </a:r>
            <a:endParaRPr lang="en-US" sz="2000" dirty="0"/>
          </a:p>
        </p:txBody>
      </p:sp>
      <p:sp>
        <p:nvSpPr>
          <p:cNvPr id="4" name="Alcance"/>
          <p:cNvSpPr txBox="1"/>
          <p:nvPr/>
        </p:nvSpPr>
        <p:spPr>
          <a:xfrm>
            <a:off x="73152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Solicitud, entrega, consumo y devolución de cable de fibra, antenas, RRU, BBU, SFP, ODF y mufas gestionados en Oracle</a:t>
            </a:r>
            <a:endParaRPr lang="en-US" sz="1400" dirty="0"/>
          </a:p>
        </p:txBody>
      </p:sp>
      <p:sp>
        <p:nvSpPr>
          <p:cNvPr id="5" name="Tramo 1"/>
          <p:cNvSpPr/>
          <p:nvPr/>
        </p:nvSpPr>
        <p:spPr>
          <a:xfrm>
            <a:off x="8595360" y="1463040"/>
            <a:ext cx="2011680" cy="54864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Tramo 2"/>
          <p:cNvSpPr/>
          <p:nvPr/>
        </p:nvSpPr>
        <p:spPr>
          <a:xfrm>
            <a:off x="8595360" y="1463040"/>
            <a:ext cx="731520" cy="173736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7" name="Tramo 3"/>
          <p:cNvSpPr/>
          <p:nvPr/>
        </p:nvSpPr>
        <p:spPr>
          <a:xfrm flipH="1">
            <a:off x="9326880" y="2011680"/>
            <a:ext cx="1280160" cy="11887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8" name="Tramo 4"/>
          <p:cNvSpPr/>
          <p:nvPr/>
        </p:nvSpPr>
        <p:spPr>
          <a:xfrm>
            <a:off x="10607040" y="2011680"/>
            <a:ext cx="548640" cy="192024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9" name="Tramo 5"/>
          <p:cNvSpPr/>
          <p:nvPr/>
        </p:nvSpPr>
        <p:spPr>
          <a:xfrm>
            <a:off x="9326880" y="3200400"/>
            <a:ext cx="1828800" cy="7315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0" name="Tramo 6"/>
          <p:cNvSpPr/>
          <p:nvPr/>
        </p:nvSpPr>
        <p:spPr>
          <a:xfrm flipH="1">
            <a:off x="8778240" y="3200400"/>
            <a:ext cx="548640" cy="16459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1" name="Tramo 7"/>
          <p:cNvSpPr/>
          <p:nvPr/>
        </p:nvSpPr>
        <p:spPr>
          <a:xfrm>
            <a:off x="8778240" y="4846320"/>
            <a:ext cx="1554480" cy="54864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2" name="Tramo 8"/>
          <p:cNvSpPr/>
          <p:nvPr/>
        </p:nvSpPr>
        <p:spPr>
          <a:xfrm flipH="1">
            <a:off x="10332720" y="3931920"/>
            <a:ext cx="822960" cy="146304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3" name="Nodo 1"/>
          <p:cNvSpPr/>
          <p:nvPr/>
        </p:nvSpPr>
        <p:spPr>
          <a:xfrm>
            <a:off x="8439912" y="1307592"/>
            <a:ext cx="310896" cy="3108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4" name="Nodo 2"/>
          <p:cNvSpPr/>
          <p:nvPr/>
        </p:nvSpPr>
        <p:spPr>
          <a:xfrm>
            <a:off x="10451592" y="185623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5" name="Nodo 3"/>
          <p:cNvSpPr/>
          <p:nvPr/>
        </p:nvSpPr>
        <p:spPr>
          <a:xfrm>
            <a:off x="9171432" y="3044952"/>
            <a:ext cx="310896" cy="3108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6" name="Nodo 4"/>
          <p:cNvSpPr/>
          <p:nvPr/>
        </p:nvSpPr>
        <p:spPr>
          <a:xfrm>
            <a:off x="11000232" y="377647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7" name="Nodo 5"/>
          <p:cNvSpPr/>
          <p:nvPr/>
        </p:nvSpPr>
        <p:spPr>
          <a:xfrm>
            <a:off x="8622792" y="4690872"/>
            <a:ext cx="310896" cy="3108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8" name="Nodo 6"/>
          <p:cNvSpPr/>
          <p:nvPr/>
        </p:nvSpPr>
        <p:spPr>
          <a:xfrm>
            <a:off x="10177272" y="523951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tenemos hasta hoy</a:t>
            </a:r>
            <a:endParaRPr lang="en-US" sz="3200" dirty="0"/>
          </a:p>
        </p:txBody>
      </p:sp>
      <p:sp>
        <p:nvSpPr>
          <p:cNvPr id="3" name="Tarjeta dato 1"/>
          <p:cNvSpPr/>
          <p:nvPr/>
        </p:nvSpPr>
        <p:spPr>
          <a:xfrm>
            <a:off x="548640" y="141732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4" name="Dato 1 círculo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ato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Cifra 1"/>
          <p:cNvSpPr txBox="1"/>
          <p:nvPr/>
        </p:nvSpPr>
        <p:spPr>
          <a:xfrm>
            <a:off x="822960" y="237744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8</a:t>
            </a:r>
            <a:endParaRPr lang="en-US" sz="6000" dirty="0"/>
          </a:p>
        </p:txBody>
      </p:sp>
      <p:sp>
        <p:nvSpPr>
          <p:cNvPr id="7" name="Etiqueta 1"/>
          <p:cNvSpPr txBox="1"/>
          <p:nvPr/>
        </p:nvSpPr>
        <p:spPr>
          <a:xfrm>
            <a:off x="822960" y="3246120"/>
            <a:ext cx="201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etapas del flujo actual mapeadas, más el traspaso entre proyectos</a:t>
            </a:r>
            <a:endParaRPr lang="en-US" sz="1400" dirty="0"/>
          </a:p>
        </p:txBody>
      </p:sp>
      <p:sp>
        <p:nvSpPr>
          <p:cNvPr id="8" name="Tarjeta dato 2"/>
          <p:cNvSpPr/>
          <p:nvPr/>
        </p:nvSpPr>
        <p:spPr>
          <a:xfrm>
            <a:off x="3390138" y="141732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9" name="Dato 2 círculo"/>
          <p:cNvSpPr/>
          <p:nvPr/>
        </p:nvSpPr>
        <p:spPr>
          <a:xfrm>
            <a:off x="366445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ato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478" y="1805940"/>
            <a:ext cx="320040" cy="320040"/>
          </a:xfrm>
          <a:prstGeom prst="rect">
            <a:avLst/>
          </a:prstGeom>
        </p:spPr>
      </p:pic>
      <p:sp>
        <p:nvSpPr>
          <p:cNvPr id="11" name="Cifra 2"/>
          <p:cNvSpPr txBox="1"/>
          <p:nvPr/>
        </p:nvSpPr>
        <p:spPr>
          <a:xfrm>
            <a:off x="3664458" y="237744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12</a:t>
            </a:r>
            <a:endParaRPr lang="en-US" sz="6000" dirty="0"/>
          </a:p>
        </p:txBody>
      </p:sp>
      <p:sp>
        <p:nvSpPr>
          <p:cNvPr id="12" name="Etiqueta 2"/>
          <p:cNvSpPr txBox="1"/>
          <p:nvPr/>
        </p:nvSpPr>
        <p:spPr>
          <a:xfrm>
            <a:off x="3664458" y="3246120"/>
            <a:ext cx="201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puntos de mejora priorizados, cada uno con su propuesta</a:t>
            </a:r>
            <a:endParaRPr lang="en-US" sz="1400" dirty="0"/>
          </a:p>
        </p:txBody>
      </p:sp>
      <p:sp>
        <p:nvSpPr>
          <p:cNvPr id="13" name="Tarjeta dato 3"/>
          <p:cNvSpPr/>
          <p:nvPr/>
        </p:nvSpPr>
        <p:spPr>
          <a:xfrm>
            <a:off x="6231636" y="141732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4" name="Dato 3 círculo"/>
          <p:cNvSpPr/>
          <p:nvPr/>
        </p:nvSpPr>
        <p:spPr>
          <a:xfrm>
            <a:off x="6505956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ato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805940"/>
            <a:ext cx="320040" cy="320040"/>
          </a:xfrm>
          <a:prstGeom prst="rect">
            <a:avLst/>
          </a:prstGeom>
        </p:spPr>
      </p:pic>
      <p:sp>
        <p:nvSpPr>
          <p:cNvPr id="16" name="Cifra 3"/>
          <p:cNvSpPr txBox="1"/>
          <p:nvPr/>
        </p:nvSpPr>
        <p:spPr>
          <a:xfrm>
            <a:off x="6505956" y="237744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14</a:t>
            </a:r>
            <a:endParaRPr lang="en-US" sz="6000" dirty="0"/>
          </a:p>
        </p:txBody>
      </p:sp>
      <p:sp>
        <p:nvSpPr>
          <p:cNvPr id="17" name="Etiqueta 3"/>
          <p:cNvSpPr txBox="1"/>
          <p:nvPr/>
        </p:nvSpPr>
        <p:spPr>
          <a:xfrm>
            <a:off x="6505956" y="3246120"/>
            <a:ext cx="201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archivos de control definidos para ordenar la información</a:t>
            </a:r>
            <a:endParaRPr lang="en-US" sz="1400" dirty="0"/>
          </a:p>
        </p:txBody>
      </p:sp>
      <p:sp>
        <p:nvSpPr>
          <p:cNvPr id="18" name="Tarjeta dato 4"/>
          <p:cNvSpPr/>
          <p:nvPr/>
        </p:nvSpPr>
        <p:spPr>
          <a:xfrm>
            <a:off x="9073134" y="141732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9" name="Dato 4 círculo"/>
          <p:cNvSpPr/>
          <p:nvPr/>
        </p:nvSpPr>
        <p:spPr>
          <a:xfrm>
            <a:off x="9347454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Dato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474" y="1805940"/>
            <a:ext cx="320040" cy="320040"/>
          </a:xfrm>
          <a:prstGeom prst="rect">
            <a:avLst/>
          </a:prstGeom>
        </p:spPr>
      </p:pic>
      <p:sp>
        <p:nvSpPr>
          <p:cNvPr id="21" name="Cifra 4"/>
          <p:cNvSpPr txBox="1"/>
          <p:nvPr/>
        </p:nvSpPr>
        <p:spPr>
          <a:xfrm>
            <a:off x="9347454" y="2377440"/>
            <a:ext cx="2018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1</a:t>
            </a:r>
            <a:endParaRPr lang="en-US" sz="6000" dirty="0"/>
          </a:p>
        </p:txBody>
      </p:sp>
      <p:sp>
        <p:nvSpPr>
          <p:cNvPr id="22" name="Etiqueta 4"/>
          <p:cNvSpPr txBox="1"/>
          <p:nvPr/>
        </p:nvSpPr>
        <p:spPr>
          <a:xfrm>
            <a:off x="9347454" y="3246120"/>
            <a:ext cx="201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simulador de lotes de fibra que ya funciona en el navegador</a:t>
            </a:r>
            <a:endParaRPr lang="en-US" sz="1400" dirty="0"/>
          </a:p>
        </p:txBody>
      </p:sp>
      <p:sp>
        <p:nvSpPr>
          <p:cNvPr id="23" name="Hito fondo"/>
          <p:cNvSpPr/>
          <p:nvPr/>
        </p:nvSpPr>
        <p:spPr>
          <a:xfrm>
            <a:off x="548640" y="4480560"/>
            <a:ext cx="11091672" cy="1508760"/>
          </a:xfrm>
          <a:prstGeom prst="roundRect">
            <a:avLst>
              <a:gd name="adj" fmla="val 727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4" name="Hito círculo"/>
          <p:cNvSpPr/>
          <p:nvPr/>
        </p:nvSpPr>
        <p:spPr>
          <a:xfrm>
            <a:off x="822960" y="48463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Hito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" y="5040630"/>
            <a:ext cx="388620" cy="388620"/>
          </a:xfrm>
          <a:prstGeom prst="rect">
            <a:avLst/>
          </a:prstGeom>
        </p:spPr>
      </p:pic>
      <p:sp>
        <p:nvSpPr>
          <p:cNvPr id="26" name="Hito texto"/>
          <p:cNvSpPr txBox="1"/>
          <p:nvPr/>
        </p:nvSpPr>
        <p:spPr>
          <a:xfrm>
            <a:off x="1828800" y="457200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Estado: análisis y diseño terminados (v1)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Siguiente hito: prototipo del motor de solicitud masiva. Para construirlo necesitamos ejemplos anonimizados de la asignación, un KMZ y el RPT.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Flujo actual: 8 etapas y dónde falla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48640" y="137160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Número etapa 1"/>
          <p:cNvSpPr txBox="1"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Problema etapa 1"/>
          <p:cNvSpPr txBox="1"/>
          <p:nvPr/>
        </p:nvSpPr>
        <p:spPr>
          <a:xfrm>
            <a:off x="2098548" y="160934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P1</a:t>
            </a:r>
            <a:endParaRPr lang="en-US" sz="1100" dirty="0"/>
          </a:p>
        </p:txBody>
      </p:sp>
      <p:sp>
        <p:nvSpPr>
          <p:cNvPr id="6" name="Texto etapa 1"/>
          <p:cNvSpPr txBox="1"/>
          <p:nvPr/>
        </p:nvSpPr>
        <p:spPr>
          <a:xfrm>
            <a:off x="731520" y="202996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Coordinadores · Oracle</a:t>
            </a:r>
            <a:endParaRPr lang="en-US" sz="1500" dirty="0"/>
          </a:p>
        </p:txBody>
      </p:sp>
      <p:sp>
        <p:nvSpPr>
          <p:cNvPr id="7" name="Flecha 1"/>
          <p:cNvSpPr/>
          <p:nvPr/>
        </p:nvSpPr>
        <p:spPr>
          <a:xfrm>
            <a:off x="3076956" y="2034540"/>
            <a:ext cx="2834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Etapa 2"/>
          <p:cNvSpPr/>
          <p:nvPr/>
        </p:nvSpPr>
        <p:spPr>
          <a:xfrm>
            <a:off x="3424428" y="137160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9" name="Número etapa 2"/>
          <p:cNvSpPr txBox="1"/>
          <p:nvPr/>
        </p:nvSpPr>
        <p:spPr>
          <a:xfrm>
            <a:off x="3607308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Problema etapa 2"/>
          <p:cNvSpPr txBox="1"/>
          <p:nvPr/>
        </p:nvSpPr>
        <p:spPr>
          <a:xfrm>
            <a:off x="4974336" y="160934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P2 · P3</a:t>
            </a:r>
            <a:endParaRPr lang="en-US" sz="1100" dirty="0"/>
          </a:p>
        </p:txBody>
      </p:sp>
      <p:sp>
        <p:nvSpPr>
          <p:cNvPr id="11" name="Texto etapa 2"/>
          <p:cNvSpPr txBox="1"/>
          <p:nvPr/>
        </p:nvSpPr>
        <p:spPr>
          <a:xfrm>
            <a:off x="3607308" y="202996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Validación de stock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Sistema · Oracle</a:t>
            </a:r>
            <a:endParaRPr lang="en-US" sz="1500" dirty="0"/>
          </a:p>
        </p:txBody>
      </p:sp>
      <p:sp>
        <p:nvSpPr>
          <p:cNvPr id="12" name="Flecha 2"/>
          <p:cNvSpPr/>
          <p:nvPr/>
        </p:nvSpPr>
        <p:spPr>
          <a:xfrm>
            <a:off x="5952744" y="2034540"/>
            <a:ext cx="2834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Etapa 3"/>
          <p:cNvSpPr/>
          <p:nvPr/>
        </p:nvSpPr>
        <p:spPr>
          <a:xfrm>
            <a:off x="6300216" y="137160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4" name="Número etapa 3"/>
          <p:cNvSpPr txBox="1"/>
          <p:nvPr/>
        </p:nvSpPr>
        <p:spPr>
          <a:xfrm>
            <a:off x="6483096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Problema etapa 3"/>
          <p:cNvSpPr txBox="1"/>
          <p:nvPr/>
        </p:nvSpPr>
        <p:spPr>
          <a:xfrm>
            <a:off x="7850124" y="160934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P4</a:t>
            </a:r>
            <a:endParaRPr lang="en-US" sz="1100" dirty="0"/>
          </a:p>
        </p:txBody>
      </p:sp>
      <p:sp>
        <p:nvSpPr>
          <p:cNvPr id="16" name="Texto etapa 3"/>
          <p:cNvSpPr txBox="1"/>
          <p:nvPr/>
        </p:nvSpPr>
        <p:spPr>
          <a:xfrm>
            <a:off x="6483096" y="202996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Lista de espera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Reunión de logística</a:t>
            </a:r>
            <a:endParaRPr lang="en-US" sz="1500" dirty="0"/>
          </a:p>
        </p:txBody>
      </p:sp>
      <p:sp>
        <p:nvSpPr>
          <p:cNvPr id="17" name="Flecha 3"/>
          <p:cNvSpPr/>
          <p:nvPr/>
        </p:nvSpPr>
        <p:spPr>
          <a:xfrm>
            <a:off x="8828532" y="2034540"/>
            <a:ext cx="2834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Etapa 4"/>
          <p:cNvSpPr/>
          <p:nvPr/>
        </p:nvSpPr>
        <p:spPr>
          <a:xfrm>
            <a:off x="9176004" y="137160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9" name="Número etapa 4"/>
          <p:cNvSpPr txBox="1"/>
          <p:nvPr/>
        </p:nvSpPr>
        <p:spPr>
          <a:xfrm>
            <a:off x="9358884" y="1554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o etapa 4"/>
          <p:cNvSpPr txBox="1"/>
          <p:nvPr/>
        </p:nvSpPr>
        <p:spPr>
          <a:xfrm>
            <a:off x="9358884" y="202996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Programación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Logística · manual</a:t>
            </a:r>
            <a:endParaRPr lang="en-US" sz="1500" dirty="0"/>
          </a:p>
        </p:txBody>
      </p:sp>
      <p:sp>
        <p:nvSpPr>
          <p:cNvPr id="21" name="Etapa 5"/>
          <p:cNvSpPr/>
          <p:nvPr/>
        </p:nvSpPr>
        <p:spPr>
          <a:xfrm>
            <a:off x="548640" y="306324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2" name="Número etapa 5"/>
          <p:cNvSpPr txBox="1"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Problema etapa 5"/>
          <p:cNvSpPr txBox="1"/>
          <p:nvPr/>
        </p:nvSpPr>
        <p:spPr>
          <a:xfrm>
            <a:off x="2098548" y="330098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P5</a:t>
            </a:r>
            <a:endParaRPr lang="en-US" sz="1100" dirty="0"/>
          </a:p>
        </p:txBody>
      </p:sp>
      <p:sp>
        <p:nvSpPr>
          <p:cNvPr id="24" name="Texto etapa 5"/>
          <p:cNvSpPr txBox="1"/>
          <p:nvPr/>
        </p:nvSpPr>
        <p:spPr>
          <a:xfrm>
            <a:off x="731520" y="372160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Entrega a contratista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Recojo presencial</a:t>
            </a:r>
            <a:endParaRPr lang="en-US" sz="1500" dirty="0"/>
          </a:p>
        </p:txBody>
      </p:sp>
      <p:sp>
        <p:nvSpPr>
          <p:cNvPr id="25" name="Flecha 5"/>
          <p:cNvSpPr/>
          <p:nvPr/>
        </p:nvSpPr>
        <p:spPr>
          <a:xfrm>
            <a:off x="3076956" y="3726180"/>
            <a:ext cx="2834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Etapa 6"/>
          <p:cNvSpPr/>
          <p:nvPr/>
        </p:nvSpPr>
        <p:spPr>
          <a:xfrm>
            <a:off x="3424428" y="306324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7" name="Número etapa 6"/>
          <p:cNvSpPr txBox="1"/>
          <p:nvPr/>
        </p:nvSpPr>
        <p:spPr>
          <a:xfrm>
            <a:off x="3607308" y="32461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Problema etapa 6"/>
          <p:cNvSpPr txBox="1"/>
          <p:nvPr/>
        </p:nvSpPr>
        <p:spPr>
          <a:xfrm>
            <a:off x="4974336" y="330098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P6</a:t>
            </a:r>
            <a:endParaRPr lang="en-US" sz="1100" dirty="0"/>
          </a:p>
        </p:txBody>
      </p:sp>
      <p:sp>
        <p:nvSpPr>
          <p:cNvPr id="29" name="Texto etapa 6"/>
          <p:cNvSpPr txBox="1"/>
          <p:nvPr/>
        </p:nvSpPr>
        <p:spPr>
          <a:xfrm>
            <a:off x="3607308" y="372160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Ejecución y salida a sitio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Contratista · RPT</a:t>
            </a:r>
            <a:endParaRPr lang="en-US" sz="1500" dirty="0"/>
          </a:p>
        </p:txBody>
      </p:sp>
      <p:sp>
        <p:nvSpPr>
          <p:cNvPr id="30" name="Flecha 6"/>
          <p:cNvSpPr/>
          <p:nvPr/>
        </p:nvSpPr>
        <p:spPr>
          <a:xfrm>
            <a:off x="5952744" y="3726180"/>
            <a:ext cx="2834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Etapa 7"/>
          <p:cNvSpPr/>
          <p:nvPr/>
        </p:nvSpPr>
        <p:spPr>
          <a:xfrm>
            <a:off x="6300216" y="306324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32" name="Número etapa 7"/>
          <p:cNvSpPr txBox="1"/>
          <p:nvPr/>
        </p:nvSpPr>
        <p:spPr>
          <a:xfrm>
            <a:off x="6483096" y="32461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3" name="Problema etapa 7"/>
          <p:cNvSpPr txBox="1"/>
          <p:nvPr/>
        </p:nvSpPr>
        <p:spPr>
          <a:xfrm>
            <a:off x="7850124" y="330098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P7</a:t>
            </a:r>
            <a:endParaRPr lang="en-US" sz="1100" dirty="0"/>
          </a:p>
        </p:txBody>
      </p:sp>
      <p:sp>
        <p:nvSpPr>
          <p:cNvPr id="34" name="Texto etapa 7"/>
          <p:cNvSpPr txBox="1"/>
          <p:nvPr/>
        </p:nvSpPr>
        <p:spPr>
          <a:xfrm>
            <a:off x="6483096" y="372160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Transferencias A↔B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Entre contratistas</a:t>
            </a:r>
            <a:endParaRPr lang="en-US" sz="1500" dirty="0"/>
          </a:p>
        </p:txBody>
      </p:sp>
      <p:sp>
        <p:nvSpPr>
          <p:cNvPr id="35" name="Flecha 7"/>
          <p:cNvSpPr/>
          <p:nvPr/>
        </p:nvSpPr>
        <p:spPr>
          <a:xfrm>
            <a:off x="8828532" y="3726180"/>
            <a:ext cx="2834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Etapa 8"/>
          <p:cNvSpPr/>
          <p:nvPr/>
        </p:nvSpPr>
        <p:spPr>
          <a:xfrm>
            <a:off x="9176004" y="3063240"/>
            <a:ext cx="24643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37" name="Número etapa 8"/>
          <p:cNvSpPr txBox="1"/>
          <p:nvPr/>
        </p:nvSpPr>
        <p:spPr>
          <a:xfrm>
            <a:off x="9358884" y="32461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8" name="Problema etapa 8"/>
          <p:cNvSpPr txBox="1"/>
          <p:nvPr/>
        </p:nvSpPr>
        <p:spPr>
          <a:xfrm>
            <a:off x="10725912" y="3300984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P9</a:t>
            </a:r>
            <a:endParaRPr lang="en-US" sz="1100" dirty="0"/>
          </a:p>
        </p:txBody>
      </p:sp>
      <p:sp>
        <p:nvSpPr>
          <p:cNvPr id="39" name="Texto etapa 8"/>
          <p:cNvSpPr txBox="1"/>
          <p:nvPr/>
        </p:nvSpPr>
        <p:spPr>
          <a:xfrm>
            <a:off x="9358884" y="3721608"/>
            <a:ext cx="2144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Logística inversa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Devolución a los 6 meses</a:t>
            </a:r>
            <a:endParaRPr lang="en-US" sz="1500" dirty="0"/>
          </a:p>
        </p:txBody>
      </p:sp>
      <p:sp>
        <p:nvSpPr>
          <p:cNvPr id="40" name="Flecha 4 a 5"/>
          <p:cNvSpPr/>
          <p:nvPr/>
        </p:nvSpPr>
        <p:spPr>
          <a:xfrm>
            <a:off x="10408158" y="26974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1" name="Nota continuidad"/>
          <p:cNvSpPr txBox="1"/>
          <p:nvPr/>
        </p:nvSpPr>
        <p:spPr>
          <a:xfrm>
            <a:off x="10517886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continúa en la etapa 5</a:t>
            </a:r>
            <a:endParaRPr lang="en-US" sz="1000" dirty="0"/>
          </a:p>
        </p:txBody>
      </p:sp>
      <p:sp>
        <p:nvSpPr>
          <p:cNvPr id="42" name="Traspaso fondo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43" name="Traspaso círculo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4" name="Traspas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5280660"/>
            <a:ext cx="320040" cy="320040"/>
          </a:xfrm>
          <a:prstGeom prst="rect">
            <a:avLst/>
          </a:prstGeom>
        </p:spPr>
      </p:pic>
      <p:sp>
        <p:nvSpPr>
          <p:cNvPr id="45" name="Traspaso texto"/>
          <p:cNvSpPr txBox="1"/>
          <p:nvPr/>
        </p:nvSpPr>
        <p:spPr>
          <a:xfrm>
            <a:off x="1645920" y="493776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Proceso aparte: traspaso de material entre proyectos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Hoy toma alrededor de 2 semanas por solicitud formal al dueño del proyecto de origen (P8)</a:t>
            </a:r>
            <a:endParaRPr lang="en-US" sz="1600" dirty="0"/>
          </a:p>
        </p:txBody>
      </p:sp>
      <p:sp>
        <p:nvSpPr>
          <p:cNvPr id="46" name="Problema traspaso"/>
          <p:cNvSpPr txBox="1"/>
          <p:nvPr/>
        </p:nvSpPr>
        <p:spPr>
          <a:xfrm>
            <a:off x="10744200" y="5294376"/>
            <a:ext cx="68580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Prioridad alta: 7 puntos críticos</a:t>
            </a:r>
            <a:endParaRPr lang="en-US" sz="3200" dirty="0"/>
          </a:p>
        </p:txBody>
      </p:sp>
      <p:graphicFrame>
        <p:nvGraphicFramePr>
          <p:cNvPr id="5" name="Tabla prioridad alt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120640"/>
                <a:gridCol w="4965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Propuesta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cuentas Oracle para 12 usuarios: se pierde la trazabilidad (riesgo de auditoría)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Rol Preparador para cada coordinador; los 5 actuales aprueban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Una línea sin stock cancela la solicitud completa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Entrega parcial + backorder en Oracle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P2-bis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Entregar fibra parcial no sirve si no completa un enlace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Entrega por enlace completo, tramo por tramo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P3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se ve el stock real ni lo que ya está pedido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Reserva al aprobar + tablero diario con semáforo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P5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contratista llega 2 o 3 días tarde a recoger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Cita confirmada 24 h antes; si no llega, se libera el cupo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P6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se sabe cuánto material tiene cada contratista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Conciliación: entregado − consumido − devuelto ± transferencias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P8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Traspaso entre proyectos toma ~2 semanas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Acceso de consulta, Borrow/Payback y SLA de 48 a 72 h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Prioridad media y baja: orden y control</a:t>
            </a:r>
            <a:endParaRPr lang="en-US" sz="3200" dirty="0"/>
          </a:p>
        </p:txBody>
      </p:sp>
      <p:sp>
        <p:nvSpPr>
          <p:cNvPr id="3" name="Fila P2-ter"/>
          <p:cNvSpPr/>
          <p:nvPr/>
        </p:nvSpPr>
        <p:spPr>
          <a:xfrm>
            <a:off x="548640" y="1371600"/>
            <a:ext cx="70408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la P2-ter círculo"/>
          <p:cNvSpPr/>
          <p:nvPr/>
        </p:nvSpPr>
        <p:spPr>
          <a:xfrm>
            <a:off x="713232" y="149961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Fila P2-ter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36776"/>
            <a:ext cx="274320" cy="274320"/>
          </a:xfrm>
          <a:prstGeom prst="rect">
            <a:avLst/>
          </a:prstGeom>
        </p:spPr>
      </p:pic>
      <p:sp>
        <p:nvSpPr>
          <p:cNvPr id="6" name="Texto P2-ter"/>
          <p:cNvSpPr txBox="1"/>
          <p:nvPr/>
        </p:nvSpPr>
        <p:spPr>
          <a:xfrm>
            <a:off x="1463040" y="1426464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P2-ter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Retazos de 10 a 50 m del lote de respaldo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Longitud mínima útil + un fondo de respaldo por contratista</a:t>
            </a:r>
            <a:endParaRPr lang="en-US" sz="1500" dirty="0"/>
          </a:p>
        </p:txBody>
      </p:sp>
      <p:sp>
        <p:nvSpPr>
          <p:cNvPr id="7" name="Fila P4"/>
          <p:cNvSpPr/>
          <p:nvPr/>
        </p:nvSpPr>
        <p:spPr>
          <a:xfrm>
            <a:off x="548640" y="2286000"/>
            <a:ext cx="70408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la P4 círculo"/>
          <p:cNvSpPr/>
          <p:nvPr/>
        </p:nvSpPr>
        <p:spPr>
          <a:xfrm>
            <a:off x="713232" y="241401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Fila P4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51176"/>
            <a:ext cx="274320" cy="274320"/>
          </a:xfrm>
          <a:prstGeom prst="rect">
            <a:avLst/>
          </a:prstGeom>
        </p:spPr>
      </p:pic>
      <p:sp>
        <p:nvSpPr>
          <p:cNvPr id="10" name="Texto P4"/>
          <p:cNvSpPr txBox="1"/>
          <p:nvPr/>
        </p:nvSpPr>
        <p:spPr>
          <a:xfrm>
            <a:off x="1463040" y="2340864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P4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Prioridad decidida en reunión, sin criterio escrito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Matriz de puntaje; la reunión solo ve excepciones</a:t>
            </a:r>
            <a:endParaRPr lang="en-US" sz="1500" dirty="0"/>
          </a:p>
        </p:txBody>
      </p:sp>
      <p:sp>
        <p:nvSpPr>
          <p:cNvPr id="11" name="Fila P7"/>
          <p:cNvSpPr/>
          <p:nvPr/>
        </p:nvSpPr>
        <p:spPr>
          <a:xfrm>
            <a:off x="548640" y="3200400"/>
            <a:ext cx="70408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la P7 círculo"/>
          <p:cNvSpPr/>
          <p:nvPr/>
        </p:nvSpPr>
        <p:spPr>
          <a:xfrm>
            <a:off x="713232" y="332841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Fila P7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65576"/>
            <a:ext cx="274320" cy="274320"/>
          </a:xfrm>
          <a:prstGeom prst="rect">
            <a:avLst/>
          </a:prstGeom>
        </p:spPr>
      </p:pic>
      <p:sp>
        <p:nvSpPr>
          <p:cNvPr id="14" name="Texto P7"/>
          <p:cNvSpPr txBox="1"/>
          <p:nvPr/>
        </p:nvSpPr>
        <p:spPr>
          <a:xfrm>
            <a:off x="1463040" y="3255264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P7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Transferencias A→B sin registro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Formato con ID y aprobación de logística</a:t>
            </a:r>
            <a:endParaRPr lang="en-US" sz="1500" dirty="0"/>
          </a:p>
        </p:txBody>
      </p:sp>
      <p:sp>
        <p:nvSpPr>
          <p:cNvPr id="15" name="Fila 2-B"/>
          <p:cNvSpPr/>
          <p:nvPr/>
        </p:nvSpPr>
        <p:spPr>
          <a:xfrm>
            <a:off x="548640" y="4114800"/>
            <a:ext cx="70408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6" name="Fila 2-B círculo"/>
          <p:cNvSpPr/>
          <p:nvPr/>
        </p:nvSpPr>
        <p:spPr>
          <a:xfrm>
            <a:off x="713232" y="424281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Fila 2-B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379976"/>
            <a:ext cx="274320" cy="274320"/>
          </a:xfrm>
          <a:prstGeom prst="rect">
            <a:avLst/>
          </a:prstGeom>
        </p:spPr>
      </p:pic>
      <p:sp>
        <p:nvSpPr>
          <p:cNvPr id="18" name="Texto 2-B"/>
          <p:cNvSpPr txBox="1"/>
          <p:nvPr/>
        </p:nvSpPr>
        <p:spPr>
          <a:xfrm>
            <a:off x="1463040" y="4169664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2-B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Solicitudes manuales, línea por línea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Solicitud masiva por enlace (motor de cálculo)</a:t>
            </a:r>
            <a:endParaRPr lang="en-US" sz="1500" dirty="0"/>
          </a:p>
        </p:txBody>
      </p:sp>
      <p:sp>
        <p:nvSpPr>
          <p:cNvPr id="19" name="Fila P9"/>
          <p:cNvSpPr/>
          <p:nvPr/>
        </p:nvSpPr>
        <p:spPr>
          <a:xfrm>
            <a:off x="548640" y="5029200"/>
            <a:ext cx="70408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0" name="Fila P9 círculo"/>
          <p:cNvSpPr/>
          <p:nvPr/>
        </p:nvSpPr>
        <p:spPr>
          <a:xfrm>
            <a:off x="713232" y="5157216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Fila P9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294376"/>
            <a:ext cx="274320" cy="274320"/>
          </a:xfrm>
          <a:prstGeom prst="rect">
            <a:avLst/>
          </a:prstGeom>
        </p:spPr>
      </p:pic>
      <p:sp>
        <p:nvSpPr>
          <p:cNvPr id="22" name="Texto P9"/>
          <p:cNvSpPr txBox="1"/>
          <p:nvPr/>
        </p:nvSpPr>
        <p:spPr>
          <a:xfrm>
            <a:off x="1463040" y="5084064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P9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Logística inversa manual a los 6 meses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Reporte de antigüedad con alerta al día 150</a:t>
            </a:r>
            <a:endParaRPr lang="en-US" sz="1500" dirty="0"/>
          </a:p>
        </p:txBody>
      </p:sp>
      <p:graphicFrame>
        <p:nvGraphicFramePr>
          <p:cNvPr id="23" name="Gráfico prioridades" descr=""/>
          <p:cNvGraphicFramePr/>
          <p:nvPr/>
        </p:nvGraphicFramePr>
        <p:xfrm>
          <a:off x="7955280" y="137160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Resumen gráfico"/>
          <p:cNvSpPr txBox="1"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 alta · 4 media · 1 baja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Clave del diseño: entregar por enlace completo</a:t>
            </a:r>
            <a:endParaRPr lang="en-US" sz="3200" dirty="0"/>
          </a:p>
        </p:txBody>
      </p:sp>
      <p:sp>
        <p:nvSpPr>
          <p:cNvPr id="3" name="Comparación 1"/>
          <p:cNvSpPr/>
          <p:nvPr/>
        </p:nvSpPr>
        <p:spPr>
          <a:xfrm>
            <a:off x="548640" y="1371600"/>
            <a:ext cx="540867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Comparación 1 cí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Comparación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6" name="Texto comparación 1"/>
          <p:cNvSpPr txBox="1"/>
          <p:nvPr/>
        </p:nvSpPr>
        <p:spPr>
          <a:xfrm>
            <a:off x="1508760" y="1481328"/>
            <a:ext cx="4297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Hoy: entrega por metros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entregan 2 km de un enlace que necesita 10 km. El enlace no se puede ejecutar y el material queda inmovilizado.</a:t>
            </a:r>
            <a:endParaRPr lang="en-US" sz="1700" dirty="0"/>
          </a:p>
        </p:txBody>
      </p:sp>
      <p:sp>
        <p:nvSpPr>
          <p:cNvPr id="7" name="Comparación 2"/>
          <p:cNvSpPr/>
          <p:nvPr/>
        </p:nvSpPr>
        <p:spPr>
          <a:xfrm>
            <a:off x="6231636" y="1371600"/>
            <a:ext cx="5408676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8" name="Comparación 2 círculo"/>
          <p:cNvSpPr/>
          <p:nvPr/>
        </p:nvSpPr>
        <p:spPr>
          <a:xfrm>
            <a:off x="6460236" y="16002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Comparación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737360"/>
            <a:ext cx="274320" cy="274320"/>
          </a:xfrm>
          <a:prstGeom prst="rect">
            <a:avLst/>
          </a:prstGeom>
        </p:spPr>
      </p:pic>
      <p:sp>
        <p:nvSpPr>
          <p:cNvPr id="10" name="Texto comparación 2"/>
          <p:cNvSpPr txBox="1"/>
          <p:nvPr/>
        </p:nvSpPr>
        <p:spPr>
          <a:xfrm>
            <a:off x="7191756" y="1481328"/>
            <a:ext cx="4297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Propuesta: entrega por enlace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Esos 2 km cierran otro enlace completo de 2 km. Solo se despacha lo que deja un enlace listo para ejecutar.</a:t>
            </a:r>
            <a:endParaRPr lang="en-US" sz="1700" dirty="0"/>
          </a:p>
        </p:txBody>
      </p:sp>
      <p:sp>
        <p:nvSpPr>
          <p:cNvPr id="11" name="Ejemplo título"/>
          <p:cNvSpPr txBox="1"/>
          <p:nvPr/>
        </p:nvSpPr>
        <p:spPr>
          <a:xfrm>
            <a:off x="548640" y="3063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Ejemplo: un enlace de 10,000 m (reserva incluida) con fibra de 48 hilos, armado con 3 lotes del mismo SKU</a:t>
            </a:r>
            <a:endParaRPr lang="en-US" sz="1400" dirty="0"/>
          </a:p>
        </p:txBody>
      </p:sp>
      <p:sp>
        <p:nvSpPr>
          <p:cNvPr id="12" name="Lote A"/>
          <p:cNvSpPr txBox="1"/>
          <p:nvPr/>
        </p:nvSpPr>
        <p:spPr>
          <a:xfrm>
            <a:off x="548640" y="3520440"/>
            <a:ext cx="3584810" cy="6400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Lote A · 4,000 m</a:t>
            </a:r>
            <a:endParaRPr lang="en-US" sz="1500" dirty="0"/>
          </a:p>
        </p:txBody>
      </p:sp>
      <p:sp>
        <p:nvSpPr>
          <p:cNvPr id="13" name="Lote B"/>
          <p:cNvSpPr txBox="1"/>
          <p:nvPr/>
        </p:nvSpPr>
        <p:spPr>
          <a:xfrm>
            <a:off x="4170026" y="3520440"/>
            <a:ext cx="3132137" cy="6400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Lote B · 3,500 m</a:t>
            </a:r>
            <a:endParaRPr lang="en-US" sz="1500" dirty="0"/>
          </a:p>
        </p:txBody>
      </p:sp>
      <p:sp>
        <p:nvSpPr>
          <p:cNvPr id="14" name="Lote C"/>
          <p:cNvSpPr txBox="1"/>
          <p:nvPr/>
        </p:nvSpPr>
        <p:spPr>
          <a:xfrm>
            <a:off x="7338739" y="3520440"/>
            <a:ext cx="2317325" cy="6400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Lote C · 2,600 m</a:t>
            </a:r>
            <a:endParaRPr lang="en-US" sz="1500" dirty="0"/>
          </a:p>
        </p:txBody>
      </p:sp>
      <p:sp>
        <p:nvSpPr>
          <p:cNvPr id="15" name="Total lotes"/>
          <p:cNvSpPr txBox="1"/>
          <p:nvPr/>
        </p:nvSpPr>
        <p:spPr>
          <a:xfrm>
            <a:off x="9829800" y="347472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= 10,100 m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para 10,000 m</a:t>
            </a:r>
            <a:endParaRPr lang="en-US" sz="2000" dirty="0"/>
          </a:p>
        </p:txBody>
      </p:sp>
      <p:sp>
        <p:nvSpPr>
          <p:cNvPr id="16" name="Regla 1"/>
          <p:cNvSpPr/>
          <p:nvPr/>
        </p:nvSpPr>
        <p:spPr>
          <a:xfrm>
            <a:off x="548640" y="4434840"/>
            <a:ext cx="5408676" cy="1554480"/>
          </a:xfrm>
          <a:prstGeom prst="roundRect">
            <a:avLst>
              <a:gd name="adj" fmla="val 588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Regla 1 círculo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Regla 1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00600"/>
            <a:ext cx="274320" cy="274320"/>
          </a:xfrm>
          <a:prstGeom prst="rect">
            <a:avLst/>
          </a:prstGeom>
        </p:spPr>
      </p:pic>
      <p:sp>
        <p:nvSpPr>
          <p:cNvPr id="19" name="Texto regla 1"/>
          <p:cNvSpPr txBox="1"/>
          <p:nvPr/>
        </p:nvSpPr>
        <p:spPr>
          <a:xfrm>
            <a:off x="1508760" y="4544568"/>
            <a:ext cx="4297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Ojo al sumar lotes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Dos rollos solo se unen en un tramo si el diseño prevé un empalme en ese punto. Si no, el tramo necesita un solo rollo.</a:t>
            </a:r>
            <a:endParaRPr lang="en-US" sz="1600" dirty="0"/>
          </a:p>
        </p:txBody>
      </p:sp>
      <p:sp>
        <p:nvSpPr>
          <p:cNvPr id="20" name="Regla 2"/>
          <p:cNvSpPr/>
          <p:nvPr/>
        </p:nvSpPr>
        <p:spPr>
          <a:xfrm>
            <a:off x="6231636" y="4434840"/>
            <a:ext cx="5408676" cy="1554480"/>
          </a:xfrm>
          <a:prstGeom prst="roundRect">
            <a:avLst>
              <a:gd name="adj" fmla="val 588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1" name="Regla 2 círculo"/>
          <p:cNvSpPr/>
          <p:nvPr/>
        </p:nvSpPr>
        <p:spPr>
          <a:xfrm>
            <a:off x="6460236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Regla 2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800600"/>
            <a:ext cx="274320" cy="274320"/>
          </a:xfrm>
          <a:prstGeom prst="rect">
            <a:avLst/>
          </a:prstGeom>
        </p:spPr>
      </p:pic>
      <p:sp>
        <p:nvSpPr>
          <p:cNvPr id="23" name="Texto regla 2"/>
          <p:cNvSpPr txBox="1"/>
          <p:nvPr/>
        </p:nvSpPr>
        <p:spPr>
          <a:xfrm>
            <a:off x="7191756" y="4544568"/>
            <a:ext cx="4297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Menos retazos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cada tramo se le asigna el rollo más corto que lo cubra. Así no se gastan rollos grandes en tramos cortos.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Simulador de lotes: la regla ya funciona</a:t>
            </a:r>
            <a:endParaRPr lang="en-US" sz="3200" dirty="0"/>
          </a:p>
        </p:txBody>
      </p:sp>
      <p:sp>
        <p:nvSpPr>
          <p:cNvPr id="3" name="Resultado 1"/>
          <p:cNvSpPr txBox="1"/>
          <p:nvPr/>
        </p:nvSpPr>
        <p:spPr>
          <a:xfrm>
            <a:off x="548640" y="13716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2 / 3</a:t>
            </a:r>
            <a:endParaRPr lang="en-US" sz="3600" dirty="0"/>
          </a:p>
        </p:txBody>
      </p:sp>
      <p:sp>
        <p:nvSpPr>
          <p:cNvPr id="4" name="Detalle resultado 1"/>
          <p:cNvSpPr txBox="1"/>
          <p:nvPr/>
        </p:nvSpPr>
        <p:spPr>
          <a:xfrm>
            <a:off x="548640" y="19385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enlaces se despachan completos (A y B)</a:t>
            </a:r>
            <a:endParaRPr lang="en-US" sz="1400" dirty="0"/>
          </a:p>
        </p:txBody>
      </p:sp>
      <p:sp>
        <p:nvSpPr>
          <p:cNvPr id="5" name="Resultado 2"/>
          <p:cNvSpPr txBox="1"/>
          <p:nvPr/>
        </p:nvSpPr>
        <p:spPr>
          <a:xfrm>
            <a:off x="548640" y="25603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12,360 m</a:t>
            </a:r>
            <a:endParaRPr lang="en-US" sz="3600" dirty="0"/>
          </a:p>
        </p:txBody>
      </p:sp>
      <p:sp>
        <p:nvSpPr>
          <p:cNvPr id="6" name="Detalle resultado 2"/>
          <p:cNvSpPr txBox="1"/>
          <p:nvPr/>
        </p:nvSpPr>
        <p:spPr>
          <a:xfrm>
            <a:off x="548640" y="31272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extraer de 15,000 m en stock, con 3 % de reserva técnica</a:t>
            </a:r>
            <a:endParaRPr lang="en-US" sz="1400" dirty="0"/>
          </a:p>
        </p:txBody>
      </p:sp>
      <p:sp>
        <p:nvSpPr>
          <p:cNvPr id="7" name="Resultado 3"/>
          <p:cNvSpPr txBox="1"/>
          <p:nvPr/>
        </p:nvSpPr>
        <p:spPr>
          <a:xfrm>
            <a:off x="548640" y="37490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Enlace C</a:t>
            </a:r>
            <a:endParaRPr lang="en-US" sz="3600" dirty="0"/>
          </a:p>
        </p:txBody>
      </p:sp>
      <p:sp>
        <p:nvSpPr>
          <p:cNvPr id="8" name="Detalle resultado 3"/>
          <p:cNvSpPr txBox="1"/>
          <p:nvPr/>
        </p:nvSpPr>
        <p:spPr>
          <a:xfrm>
            <a:off x="548640" y="43159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 despacha: su tramo de 1,545 m no entra en ningún lote solo, así que ese metraje queda libre</a:t>
            </a:r>
            <a:endParaRPr lang="en-US" sz="1400" dirty="0"/>
          </a:p>
        </p:txBody>
      </p:sp>
      <p:sp>
        <p:nvSpPr>
          <p:cNvPr id="9" name="Uso simulador"/>
          <p:cNvSpPr/>
          <p:nvPr/>
        </p:nvSpPr>
        <p:spPr>
          <a:xfrm>
            <a:off x="548640" y="5029200"/>
            <a:ext cx="5669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o uso simulador"/>
          <p:cNvSpPr txBox="1"/>
          <p:nvPr/>
        </p:nvSpPr>
        <p:spPr>
          <a:xfrm>
            <a:off x="731520" y="50749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enlaces en orden de prioridad, lotes del SKU y % de reserva.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Salida: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enlaces se despachan y de qué lote sale cada tramo.</a:t>
            </a:r>
            <a:endParaRPr lang="en-US" sz="1400" dirty="0"/>
          </a:p>
        </p:txBody>
      </p:sp>
      <p:pic>
        <p:nvPicPr>
          <p:cNvPr id="11" name="Captura del simulador" descr="Captura del simulador de asignación de lotes de fibra con el ejemplo por def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371600"/>
            <a:ext cx="4846320" cy="459273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Motor de solicitud masiva por enlace</a:t>
            </a:r>
            <a:endParaRPr lang="en-US" sz="3200" dirty="0"/>
          </a:p>
        </p:txBody>
      </p:sp>
      <p:sp>
        <p:nvSpPr>
          <p:cNvPr id="3" name="Fuente 1"/>
          <p:cNvSpPr/>
          <p:nvPr/>
        </p:nvSpPr>
        <p:spPr>
          <a:xfrm>
            <a:off x="548640" y="141732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4" name="Fuente 1 texto"/>
          <p:cNvSpPr txBox="1"/>
          <p:nvPr/>
        </p:nvSpPr>
        <p:spPr>
          <a:xfrm>
            <a:off x="68580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Asignación del proyecto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enlace + materiales genéricos</a:t>
            </a:r>
            <a:endParaRPr lang="en-US" sz="1500" dirty="0"/>
          </a:p>
        </p:txBody>
      </p:sp>
      <p:sp>
        <p:nvSpPr>
          <p:cNvPr id="5" name="Flecha fuente 1"/>
          <p:cNvSpPr/>
          <p:nvPr/>
        </p:nvSpPr>
        <p:spPr>
          <a:xfrm>
            <a:off x="3154680" y="176022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Fuente 2"/>
          <p:cNvSpPr/>
          <p:nvPr/>
        </p:nvSpPr>
        <p:spPr>
          <a:xfrm>
            <a:off x="548640" y="224028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7" name="Fuente 2 texto"/>
          <p:cNvSpPr txBox="1"/>
          <p:nvPr/>
        </p:nvSpPr>
        <p:spPr>
          <a:xfrm>
            <a:off x="68580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KMZ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ruta de diseño propuesta</a:t>
            </a:r>
            <a:endParaRPr lang="en-US" sz="1500" dirty="0"/>
          </a:p>
        </p:txBody>
      </p:sp>
      <p:sp>
        <p:nvSpPr>
          <p:cNvPr id="8" name="Flecha fuente 2"/>
          <p:cNvSpPr/>
          <p:nvPr/>
        </p:nvSpPr>
        <p:spPr>
          <a:xfrm>
            <a:off x="3154680" y="258318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Fuente 3"/>
          <p:cNvSpPr/>
          <p:nvPr/>
        </p:nvSpPr>
        <p:spPr>
          <a:xfrm>
            <a:off x="548640" y="3063240"/>
            <a:ext cx="2560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0" name="Fuente 3 texto"/>
          <p:cNvSpPr txBox="1"/>
          <p:nvPr/>
        </p:nvSpPr>
        <p:spPr>
          <a:xfrm>
            <a:off x="685800" y="3063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 de ruta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versión validada por el coordinador</a:t>
            </a:r>
            <a:endParaRPr lang="en-US" sz="1500" dirty="0"/>
          </a:p>
        </p:txBody>
      </p:sp>
      <p:sp>
        <p:nvSpPr>
          <p:cNvPr id="11" name="Flecha fuente 3"/>
          <p:cNvSpPr/>
          <p:nvPr/>
        </p:nvSpPr>
        <p:spPr>
          <a:xfrm>
            <a:off x="3154680" y="3406140"/>
            <a:ext cx="5486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Motor"/>
          <p:cNvSpPr/>
          <p:nvPr/>
        </p:nvSpPr>
        <p:spPr>
          <a:xfrm>
            <a:off x="3749040" y="1417320"/>
            <a:ext cx="2286000" cy="233172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13" name="Motor texto"/>
          <p:cNvSpPr txBox="1"/>
          <p:nvPr/>
        </p:nvSpPr>
        <p:spPr>
          <a:xfrm>
            <a:off x="3886200" y="1417320"/>
            <a:ext cx="2011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Motor de cálculo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traduce, mide y asigna lotes por tramo</a:t>
            </a:r>
            <a:endParaRPr lang="en-US" sz="1500" dirty="0"/>
          </a:p>
        </p:txBody>
      </p:sp>
      <p:sp>
        <p:nvSpPr>
          <p:cNvPr id="14" name="Insumos"/>
          <p:cNvSpPr/>
          <p:nvPr/>
        </p:nvSpPr>
        <p:spPr>
          <a:xfrm>
            <a:off x="3749040" y="4114800"/>
            <a:ext cx="22860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Insumos texto"/>
          <p:cNvSpPr txBox="1"/>
          <p:nvPr/>
        </p:nvSpPr>
        <p:spPr>
          <a:xfrm>
            <a:off x="388620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Catálogo genérico → SKU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 stock por lote (Oracle)</a:t>
            </a:r>
            <a:endParaRPr lang="en-US" sz="1500" dirty="0"/>
          </a:p>
        </p:txBody>
      </p:sp>
      <p:sp>
        <p:nvSpPr>
          <p:cNvPr id="16" name="Flecha insumos"/>
          <p:cNvSpPr/>
          <p:nvPr/>
        </p:nvSpPr>
        <p:spPr>
          <a:xfrm flipV="1">
            <a:off x="4892040" y="3767328"/>
            <a:ext cx="0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Flecha salida 1"/>
          <p:cNvSpPr/>
          <p:nvPr/>
        </p:nvSpPr>
        <p:spPr>
          <a:xfrm>
            <a:off x="6080760" y="192024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alida 1"/>
          <p:cNvSpPr/>
          <p:nvPr/>
        </p:nvSpPr>
        <p:spPr>
          <a:xfrm>
            <a:off x="6583680" y="14173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9" name="Salida 1 texto"/>
          <p:cNvSpPr txBox="1"/>
          <p:nvPr/>
        </p:nvSpPr>
        <p:spPr>
          <a:xfrm>
            <a:off x="6720840" y="1417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Cable: automático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metros del KMZ × factor; lotes por tramo</a:t>
            </a:r>
            <a:endParaRPr lang="en-US" sz="1500" dirty="0"/>
          </a:p>
        </p:txBody>
      </p:sp>
      <p:sp>
        <p:nvSpPr>
          <p:cNvPr id="20" name="Flecha a Oracle 1"/>
          <p:cNvSpPr/>
          <p:nvPr/>
        </p:nvSpPr>
        <p:spPr>
          <a:xfrm>
            <a:off x="9189720" y="192024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Flecha salida 2"/>
          <p:cNvSpPr/>
          <p:nvPr/>
        </p:nvSpPr>
        <p:spPr>
          <a:xfrm>
            <a:off x="6080760" y="324612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alida 2"/>
          <p:cNvSpPr/>
          <p:nvPr/>
        </p:nvSpPr>
        <p:spPr>
          <a:xfrm>
            <a:off x="6583680" y="27432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23" name="Salida 2 texto"/>
          <p:cNvSpPr txBox="1"/>
          <p:nvPr/>
        </p:nvSpPr>
        <p:spPr>
          <a:xfrm>
            <a:off x="672084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Otros materiales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kit base por tipo de enlace + complementaria</a:t>
            </a:r>
            <a:endParaRPr lang="en-US" sz="1500" dirty="0"/>
          </a:p>
        </p:txBody>
      </p:sp>
      <p:sp>
        <p:nvSpPr>
          <p:cNvPr id="24" name="Flecha a Oracle 2"/>
          <p:cNvSpPr/>
          <p:nvPr/>
        </p:nvSpPr>
        <p:spPr>
          <a:xfrm>
            <a:off x="9189720" y="324612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Oracle"/>
          <p:cNvSpPr/>
          <p:nvPr/>
        </p:nvSpPr>
        <p:spPr>
          <a:xfrm>
            <a:off x="9692640" y="1417320"/>
            <a:ext cx="1947672" cy="2331720"/>
          </a:xfrm>
          <a:prstGeom prst="roundRect">
            <a:avLst>
              <a:gd name="adj" fmla="val 3756"/>
            </a:avLst>
          </a:prstGeom>
          <a:solidFill>
            <a:schemeClr val="accent2"/>
          </a:solidFill>
          <a:ln/>
        </p:spPr>
      </p:sp>
      <p:sp>
        <p:nvSpPr>
          <p:cNvPr id="26" name="Oracle texto"/>
          <p:cNvSpPr txBox="1"/>
          <p:nvPr/>
        </p:nvSpPr>
        <p:spPr>
          <a:xfrm>
            <a:off x="9829800" y="1417320"/>
            <a:ext cx="16733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Archivo de carga Oracle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el coordinador valida y carga</a:t>
            </a:r>
            <a:endParaRPr lang="en-US" sz="1500" dirty="0"/>
          </a:p>
        </p:txBody>
      </p:sp>
      <p:sp>
        <p:nvSpPr>
          <p:cNvPr id="27" name="Cambio de ruta"/>
          <p:cNvSpPr/>
          <p:nvPr/>
        </p:nvSpPr>
        <p:spPr>
          <a:xfrm>
            <a:off x="6583680" y="4114800"/>
            <a:ext cx="5056632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8" name="Ícono recalcul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297680"/>
            <a:ext cx="365760" cy="365760"/>
          </a:xfrm>
          <a:prstGeom prst="rect">
            <a:avLst/>
          </a:prstGeom>
        </p:spPr>
      </p:pic>
      <p:sp>
        <p:nvSpPr>
          <p:cNvPr id="29" name="Texto cambio de ruta"/>
          <p:cNvSpPr txBox="1"/>
          <p:nvPr/>
        </p:nvSpPr>
        <p:spPr>
          <a:xfrm>
            <a:off x="7269480" y="41148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 cambia el ID de ruta (zona arqueológica, propietario, municipalidad), se recalcula solo la diferencia</a:t>
            </a:r>
            <a:endParaRPr lang="en-US" sz="1300" dirty="0"/>
          </a:p>
        </p:txBody>
      </p:sp>
      <p:sp>
        <p:nvSpPr>
          <p:cNvPr id="30" name="Fase motor 1"/>
          <p:cNvSpPr/>
          <p:nvPr/>
        </p:nvSpPr>
        <p:spPr>
          <a:xfrm>
            <a:off x="548640" y="50749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1" name="Texto fase motor 1"/>
          <p:cNvSpPr txBox="1"/>
          <p:nvPr/>
        </p:nvSpPr>
        <p:spPr>
          <a:xfrm>
            <a:off x="73152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Fase 1 · sin TI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motor genera la plantilla por enlace (SKU, cantidad, lote sugerido) y un usuario la copia a Oracle.</a:t>
            </a:r>
            <a:endParaRPr lang="en-US" sz="1500" dirty="0"/>
          </a:p>
        </p:txBody>
      </p:sp>
      <p:sp>
        <p:nvSpPr>
          <p:cNvPr id="32" name="Fase motor 2"/>
          <p:cNvSpPr/>
          <p:nvPr/>
        </p:nvSpPr>
        <p:spPr>
          <a:xfrm>
            <a:off x="6231636" y="5074920"/>
            <a:ext cx="5408676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3" name="Texto fase motor 2"/>
          <p:cNvSpPr txBox="1"/>
          <p:nvPr/>
        </p:nvSpPr>
        <p:spPr>
          <a:xfrm>
            <a:off x="6414516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Fase 2 · con TI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Carga masiva: Requisition Import en Oracle EBS, o el mecanismo equivalente en Fusion.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Archivos de control: 14 fuentes de datos</a:t>
            </a:r>
            <a:endParaRPr lang="en-US" sz="3200" dirty="0"/>
          </a:p>
        </p:txBody>
      </p:sp>
      <p:sp>
        <p:nvSpPr>
          <p:cNvPr id="3" name="Archivo A"/>
          <p:cNvSpPr/>
          <p:nvPr/>
        </p:nvSpPr>
        <p:spPr>
          <a:xfrm>
            <a:off x="548640" y="1371600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4" name="Letra A"/>
          <p:cNvSpPr txBox="1"/>
          <p:nvPr/>
        </p:nvSpPr>
        <p:spPr>
          <a:xfrm>
            <a:off x="73152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</a:t>
            </a:r>
            <a:endParaRPr lang="en-US" sz="2600" dirty="0"/>
          </a:p>
        </p:txBody>
      </p:sp>
      <p:sp>
        <p:nvSpPr>
          <p:cNvPr id="5" name="Frecuencia A"/>
          <p:cNvSpPr txBox="1"/>
          <p:nvPr/>
        </p:nvSpPr>
        <p:spPr>
          <a:xfrm>
            <a:off x="1280160" y="1481328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Fijo</a:t>
            </a:r>
            <a:endParaRPr lang="en-US" sz="1100" dirty="0"/>
          </a:p>
        </p:txBody>
      </p:sp>
      <p:sp>
        <p:nvSpPr>
          <p:cNvPr id="6" name="Nombre A"/>
          <p:cNvSpPr txBox="1"/>
          <p:nvPr/>
        </p:nvSpPr>
        <p:spPr>
          <a:xfrm>
            <a:off x="731520" y="201168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Maestro de materiales</a:t>
            </a:r>
            <a:endParaRPr lang="en-US" sz="1400" dirty="0"/>
          </a:p>
        </p:txBody>
      </p:sp>
      <p:sp>
        <p:nvSpPr>
          <p:cNvPr id="7" name="Archivo B"/>
          <p:cNvSpPr/>
          <p:nvPr/>
        </p:nvSpPr>
        <p:spPr>
          <a:xfrm>
            <a:off x="2803550" y="1371600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8" name="Letra B"/>
          <p:cNvSpPr txBox="1"/>
          <p:nvPr/>
        </p:nvSpPr>
        <p:spPr>
          <a:xfrm>
            <a:off x="298643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9" name="Frecuencia B"/>
          <p:cNvSpPr txBox="1"/>
          <p:nvPr/>
        </p:nvSpPr>
        <p:spPr>
          <a:xfrm>
            <a:off x="3535070" y="1481328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Diario</a:t>
            </a:r>
            <a:endParaRPr lang="en-US" sz="1100" dirty="0"/>
          </a:p>
        </p:txBody>
      </p:sp>
      <p:sp>
        <p:nvSpPr>
          <p:cNvPr id="10" name="Nombre B"/>
          <p:cNvSpPr txBox="1"/>
          <p:nvPr/>
        </p:nvSpPr>
        <p:spPr>
          <a:xfrm>
            <a:off x="2986430" y="201168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Stock Oracle</a:t>
            </a:r>
            <a:endParaRPr lang="en-US" sz="1400" dirty="0"/>
          </a:p>
        </p:txBody>
      </p:sp>
      <p:sp>
        <p:nvSpPr>
          <p:cNvPr id="11" name="Archivo C"/>
          <p:cNvSpPr/>
          <p:nvPr/>
        </p:nvSpPr>
        <p:spPr>
          <a:xfrm>
            <a:off x="5058461" y="1371600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2" name="Letra C"/>
          <p:cNvSpPr txBox="1"/>
          <p:nvPr/>
        </p:nvSpPr>
        <p:spPr>
          <a:xfrm>
            <a:off x="5241341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3" name="Frecuencia C"/>
          <p:cNvSpPr txBox="1"/>
          <p:nvPr/>
        </p:nvSpPr>
        <p:spPr>
          <a:xfrm>
            <a:off x="5789981" y="1481328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Diario</a:t>
            </a:r>
            <a:endParaRPr lang="en-US" sz="1100" dirty="0"/>
          </a:p>
        </p:txBody>
      </p:sp>
      <p:sp>
        <p:nvSpPr>
          <p:cNvPr id="14" name="Nombre C"/>
          <p:cNvSpPr txBox="1"/>
          <p:nvPr/>
        </p:nvSpPr>
        <p:spPr>
          <a:xfrm>
            <a:off x="5241341" y="201168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Solicitudes en curso</a:t>
            </a:r>
            <a:endParaRPr lang="en-US" sz="1400" dirty="0"/>
          </a:p>
        </p:txBody>
      </p:sp>
      <p:sp>
        <p:nvSpPr>
          <p:cNvPr id="15" name="Archivo D"/>
          <p:cNvSpPr/>
          <p:nvPr/>
        </p:nvSpPr>
        <p:spPr>
          <a:xfrm>
            <a:off x="7313371" y="1371600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16" name="Letra D"/>
          <p:cNvSpPr txBox="1"/>
          <p:nvPr/>
        </p:nvSpPr>
        <p:spPr>
          <a:xfrm>
            <a:off x="7496251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Frecuencia D"/>
          <p:cNvSpPr txBox="1"/>
          <p:nvPr/>
        </p:nvSpPr>
        <p:spPr>
          <a:xfrm>
            <a:off x="8044891" y="1481328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Diario</a:t>
            </a:r>
            <a:endParaRPr lang="en-US" sz="1100" dirty="0"/>
          </a:p>
        </p:txBody>
      </p:sp>
      <p:sp>
        <p:nvSpPr>
          <p:cNvPr id="18" name="Nombre D"/>
          <p:cNvSpPr txBox="1"/>
          <p:nvPr/>
        </p:nvSpPr>
        <p:spPr>
          <a:xfrm>
            <a:off x="7496251" y="201168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Programación de entregas</a:t>
            </a:r>
            <a:endParaRPr lang="en-US" sz="1400" dirty="0"/>
          </a:p>
        </p:txBody>
      </p:sp>
      <p:sp>
        <p:nvSpPr>
          <p:cNvPr id="19" name="Archivo E"/>
          <p:cNvSpPr/>
          <p:nvPr/>
        </p:nvSpPr>
        <p:spPr>
          <a:xfrm>
            <a:off x="9568282" y="1371600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20" name="Letra E"/>
          <p:cNvSpPr txBox="1"/>
          <p:nvPr/>
        </p:nvSpPr>
        <p:spPr>
          <a:xfrm>
            <a:off x="9751162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</a:t>
            </a:r>
            <a:endParaRPr lang="en-US" sz="2600" dirty="0"/>
          </a:p>
        </p:txBody>
      </p:sp>
      <p:sp>
        <p:nvSpPr>
          <p:cNvPr id="21" name="Frecuencia E"/>
          <p:cNvSpPr txBox="1"/>
          <p:nvPr/>
        </p:nvSpPr>
        <p:spPr>
          <a:xfrm>
            <a:off x="10299802" y="1481328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Diario</a:t>
            </a:r>
            <a:endParaRPr lang="en-US" sz="1100" dirty="0"/>
          </a:p>
        </p:txBody>
      </p:sp>
      <p:sp>
        <p:nvSpPr>
          <p:cNvPr id="22" name="Nombre E"/>
          <p:cNvSpPr txBox="1"/>
          <p:nvPr/>
        </p:nvSpPr>
        <p:spPr>
          <a:xfrm>
            <a:off x="9751162" y="2011680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RPT: salidas a sitio</a:t>
            </a:r>
            <a:endParaRPr lang="en-US" sz="1400" dirty="0"/>
          </a:p>
        </p:txBody>
      </p:sp>
      <p:sp>
        <p:nvSpPr>
          <p:cNvPr id="23" name="Archivo F"/>
          <p:cNvSpPr/>
          <p:nvPr/>
        </p:nvSpPr>
        <p:spPr>
          <a:xfrm>
            <a:off x="548640" y="2944368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4" name="Letra F"/>
          <p:cNvSpPr txBox="1"/>
          <p:nvPr/>
        </p:nvSpPr>
        <p:spPr>
          <a:xfrm>
            <a:off x="731520" y="3054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F</a:t>
            </a:r>
            <a:endParaRPr lang="en-US" sz="2600" dirty="0"/>
          </a:p>
        </p:txBody>
      </p:sp>
      <p:sp>
        <p:nvSpPr>
          <p:cNvPr id="25" name="Frecuencia F"/>
          <p:cNvSpPr txBox="1"/>
          <p:nvPr/>
        </p:nvSpPr>
        <p:spPr>
          <a:xfrm>
            <a:off x="1280160" y="3054096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Semanal</a:t>
            </a:r>
            <a:endParaRPr lang="en-US" sz="1100" dirty="0"/>
          </a:p>
        </p:txBody>
      </p:sp>
      <p:sp>
        <p:nvSpPr>
          <p:cNvPr id="26" name="Nombre F"/>
          <p:cNvSpPr txBox="1"/>
          <p:nvPr/>
        </p:nvSpPr>
        <p:spPr>
          <a:xfrm>
            <a:off x="731520" y="3584448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Stock por contratista</a:t>
            </a:r>
            <a:endParaRPr lang="en-US" sz="1400" dirty="0"/>
          </a:p>
        </p:txBody>
      </p:sp>
      <p:sp>
        <p:nvSpPr>
          <p:cNvPr id="27" name="Archivo G"/>
          <p:cNvSpPr/>
          <p:nvPr/>
        </p:nvSpPr>
        <p:spPr>
          <a:xfrm>
            <a:off x="2803550" y="2944368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28" name="Letra G"/>
          <p:cNvSpPr txBox="1"/>
          <p:nvPr/>
        </p:nvSpPr>
        <p:spPr>
          <a:xfrm>
            <a:off x="2986430" y="3054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G</a:t>
            </a:r>
            <a:endParaRPr lang="en-US" sz="2600" dirty="0"/>
          </a:p>
        </p:txBody>
      </p:sp>
      <p:sp>
        <p:nvSpPr>
          <p:cNvPr id="29" name="Frecuencia G"/>
          <p:cNvSpPr txBox="1"/>
          <p:nvPr/>
        </p:nvSpPr>
        <p:spPr>
          <a:xfrm>
            <a:off x="3535070" y="3054096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 evento</a:t>
            </a:r>
            <a:endParaRPr lang="en-US" sz="1100" dirty="0"/>
          </a:p>
        </p:txBody>
      </p:sp>
      <p:sp>
        <p:nvSpPr>
          <p:cNvPr id="30" name="Nombre G"/>
          <p:cNvSpPr txBox="1"/>
          <p:nvPr/>
        </p:nvSpPr>
        <p:spPr>
          <a:xfrm>
            <a:off x="2986430" y="3584448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Transferencias A↔B</a:t>
            </a:r>
            <a:endParaRPr lang="en-US" sz="1400" dirty="0"/>
          </a:p>
        </p:txBody>
      </p:sp>
      <p:sp>
        <p:nvSpPr>
          <p:cNvPr id="31" name="Archivo H"/>
          <p:cNvSpPr/>
          <p:nvPr/>
        </p:nvSpPr>
        <p:spPr>
          <a:xfrm>
            <a:off x="5058461" y="2944368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32" name="Letra H"/>
          <p:cNvSpPr txBox="1"/>
          <p:nvPr/>
        </p:nvSpPr>
        <p:spPr>
          <a:xfrm>
            <a:off x="5241341" y="3054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H</a:t>
            </a:r>
            <a:endParaRPr lang="en-US" sz="2600" dirty="0"/>
          </a:p>
        </p:txBody>
      </p:sp>
      <p:sp>
        <p:nvSpPr>
          <p:cNvPr id="33" name="Frecuencia H"/>
          <p:cNvSpPr txBox="1"/>
          <p:nvPr/>
        </p:nvSpPr>
        <p:spPr>
          <a:xfrm>
            <a:off x="5789981" y="3054096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Mensual</a:t>
            </a:r>
            <a:endParaRPr lang="en-US" sz="1100" dirty="0"/>
          </a:p>
        </p:txBody>
      </p:sp>
      <p:sp>
        <p:nvSpPr>
          <p:cNvPr id="34" name="Nombre H"/>
          <p:cNvSpPr txBox="1"/>
          <p:nvPr/>
        </p:nvSpPr>
        <p:spPr>
          <a:xfrm>
            <a:off x="5241341" y="3584448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Matriz de proyectos</a:t>
            </a:r>
            <a:endParaRPr lang="en-US" sz="1400" dirty="0"/>
          </a:p>
        </p:txBody>
      </p:sp>
      <p:sp>
        <p:nvSpPr>
          <p:cNvPr id="35" name="Archivo I"/>
          <p:cNvSpPr/>
          <p:nvPr/>
        </p:nvSpPr>
        <p:spPr>
          <a:xfrm>
            <a:off x="7313371" y="2944368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36" name="Letra I"/>
          <p:cNvSpPr txBox="1"/>
          <p:nvPr/>
        </p:nvSpPr>
        <p:spPr>
          <a:xfrm>
            <a:off x="7496251" y="3054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</a:t>
            </a:r>
            <a:endParaRPr lang="en-US" sz="2600" dirty="0"/>
          </a:p>
        </p:txBody>
      </p:sp>
      <p:sp>
        <p:nvSpPr>
          <p:cNvPr id="37" name="Frecuencia I"/>
          <p:cNvSpPr txBox="1"/>
          <p:nvPr/>
        </p:nvSpPr>
        <p:spPr>
          <a:xfrm>
            <a:off x="8044891" y="3054096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 evento</a:t>
            </a:r>
            <a:endParaRPr lang="en-US" sz="1100" dirty="0"/>
          </a:p>
        </p:txBody>
      </p:sp>
      <p:sp>
        <p:nvSpPr>
          <p:cNvPr id="38" name="Nombre I"/>
          <p:cNvSpPr txBox="1"/>
          <p:nvPr/>
        </p:nvSpPr>
        <p:spPr>
          <a:xfrm>
            <a:off x="7496251" y="3584448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Bitácora de cuentas</a:t>
            </a:r>
            <a:endParaRPr lang="en-US" sz="1400" dirty="0"/>
          </a:p>
        </p:txBody>
      </p:sp>
      <p:sp>
        <p:nvSpPr>
          <p:cNvPr id="39" name="Archivo J"/>
          <p:cNvSpPr/>
          <p:nvPr/>
        </p:nvSpPr>
        <p:spPr>
          <a:xfrm>
            <a:off x="9568282" y="2944368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40" name="Letra J"/>
          <p:cNvSpPr txBox="1"/>
          <p:nvPr/>
        </p:nvSpPr>
        <p:spPr>
          <a:xfrm>
            <a:off x="9751162" y="3054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J</a:t>
            </a:r>
            <a:endParaRPr lang="en-US" sz="2600" dirty="0"/>
          </a:p>
        </p:txBody>
      </p:sp>
      <p:sp>
        <p:nvSpPr>
          <p:cNvPr id="41" name="Frecuencia J"/>
          <p:cNvSpPr txBox="1"/>
          <p:nvPr/>
        </p:nvSpPr>
        <p:spPr>
          <a:xfrm>
            <a:off x="10299802" y="3054096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 proyecto</a:t>
            </a:r>
            <a:endParaRPr lang="en-US" sz="1100" dirty="0"/>
          </a:p>
        </p:txBody>
      </p:sp>
      <p:sp>
        <p:nvSpPr>
          <p:cNvPr id="42" name="Nombre J"/>
          <p:cNvSpPr txBox="1"/>
          <p:nvPr/>
        </p:nvSpPr>
        <p:spPr>
          <a:xfrm>
            <a:off x="9751162" y="3584448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Diseño de enlaces</a:t>
            </a:r>
            <a:endParaRPr lang="en-US" sz="1400" dirty="0"/>
          </a:p>
        </p:txBody>
      </p:sp>
      <p:sp>
        <p:nvSpPr>
          <p:cNvPr id="43" name="Archivo K"/>
          <p:cNvSpPr/>
          <p:nvPr/>
        </p:nvSpPr>
        <p:spPr>
          <a:xfrm>
            <a:off x="548640" y="4517136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44" name="Letra K"/>
          <p:cNvSpPr txBox="1"/>
          <p:nvPr/>
        </p:nvSpPr>
        <p:spPr>
          <a:xfrm>
            <a:off x="731520" y="4626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</a:t>
            </a:r>
            <a:endParaRPr lang="en-US" sz="2600" dirty="0"/>
          </a:p>
        </p:txBody>
      </p:sp>
      <p:sp>
        <p:nvSpPr>
          <p:cNvPr id="45" name="Frecuencia K"/>
          <p:cNvSpPr txBox="1"/>
          <p:nvPr/>
        </p:nvSpPr>
        <p:spPr>
          <a:xfrm>
            <a:off x="1280160" y="4626864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Diario</a:t>
            </a:r>
            <a:endParaRPr lang="en-US" sz="1100" dirty="0"/>
          </a:p>
        </p:txBody>
      </p:sp>
      <p:sp>
        <p:nvSpPr>
          <p:cNvPr id="46" name="Nombre K"/>
          <p:cNvSpPr txBox="1"/>
          <p:nvPr/>
        </p:nvSpPr>
        <p:spPr>
          <a:xfrm>
            <a:off x="731520" y="5157216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Stock por lote</a:t>
            </a:r>
            <a:endParaRPr lang="en-US" sz="1400" dirty="0"/>
          </a:p>
        </p:txBody>
      </p:sp>
      <p:sp>
        <p:nvSpPr>
          <p:cNvPr id="47" name="Archivo L"/>
          <p:cNvSpPr/>
          <p:nvPr/>
        </p:nvSpPr>
        <p:spPr>
          <a:xfrm>
            <a:off x="2803550" y="4517136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48" name="Letra L"/>
          <p:cNvSpPr txBox="1"/>
          <p:nvPr/>
        </p:nvSpPr>
        <p:spPr>
          <a:xfrm>
            <a:off x="2986430" y="4626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</a:t>
            </a:r>
            <a:endParaRPr lang="en-US" sz="2600" dirty="0"/>
          </a:p>
        </p:txBody>
      </p:sp>
      <p:sp>
        <p:nvSpPr>
          <p:cNvPr id="49" name="Frecuencia L"/>
          <p:cNvSpPr txBox="1"/>
          <p:nvPr/>
        </p:nvSpPr>
        <p:spPr>
          <a:xfrm>
            <a:off x="3535070" y="4626864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Fijo</a:t>
            </a:r>
            <a:endParaRPr lang="en-US" sz="1100" dirty="0"/>
          </a:p>
        </p:txBody>
      </p:sp>
      <p:sp>
        <p:nvSpPr>
          <p:cNvPr id="50" name="Nombre L"/>
          <p:cNvSpPr txBox="1"/>
          <p:nvPr/>
        </p:nvSpPr>
        <p:spPr>
          <a:xfrm>
            <a:off x="2986430" y="5157216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Catálogo genérico → SKU</a:t>
            </a:r>
            <a:endParaRPr lang="en-US" sz="1400" dirty="0"/>
          </a:p>
        </p:txBody>
      </p:sp>
      <p:sp>
        <p:nvSpPr>
          <p:cNvPr id="51" name="Archivo M"/>
          <p:cNvSpPr/>
          <p:nvPr/>
        </p:nvSpPr>
        <p:spPr>
          <a:xfrm>
            <a:off x="5058461" y="4517136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52" name="Letra M"/>
          <p:cNvSpPr txBox="1"/>
          <p:nvPr/>
        </p:nvSpPr>
        <p:spPr>
          <a:xfrm>
            <a:off x="5241341" y="4626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</a:t>
            </a:r>
            <a:endParaRPr lang="en-US" sz="2600" dirty="0"/>
          </a:p>
        </p:txBody>
      </p:sp>
      <p:sp>
        <p:nvSpPr>
          <p:cNvPr id="53" name="Frecuencia M"/>
          <p:cNvSpPr txBox="1"/>
          <p:nvPr/>
        </p:nvSpPr>
        <p:spPr>
          <a:xfrm>
            <a:off x="5789981" y="4626864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Por evento</a:t>
            </a:r>
            <a:endParaRPr lang="en-US" sz="1100" dirty="0"/>
          </a:p>
        </p:txBody>
      </p:sp>
      <p:sp>
        <p:nvSpPr>
          <p:cNvPr id="54" name="Nombre M"/>
          <p:cNvSpPr txBox="1"/>
          <p:nvPr/>
        </p:nvSpPr>
        <p:spPr>
          <a:xfrm>
            <a:off x="5241341" y="5157216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Versiones de ruta</a:t>
            </a:r>
            <a:endParaRPr lang="en-US" sz="1400" dirty="0"/>
          </a:p>
        </p:txBody>
      </p:sp>
      <p:sp>
        <p:nvSpPr>
          <p:cNvPr id="55" name="Archivo N"/>
          <p:cNvSpPr/>
          <p:nvPr/>
        </p:nvSpPr>
        <p:spPr>
          <a:xfrm>
            <a:off x="7313371" y="4517136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bg2"/>
          </a:solidFill>
          <a:ln/>
        </p:spPr>
      </p:sp>
      <p:sp>
        <p:nvSpPr>
          <p:cNvPr id="56" name="Letra N"/>
          <p:cNvSpPr txBox="1"/>
          <p:nvPr/>
        </p:nvSpPr>
        <p:spPr>
          <a:xfrm>
            <a:off x="7496251" y="4626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N</a:t>
            </a:r>
            <a:endParaRPr lang="en-US" sz="2600" dirty="0"/>
          </a:p>
        </p:txBody>
      </p:sp>
      <p:sp>
        <p:nvSpPr>
          <p:cNvPr id="57" name="Frecuencia N"/>
          <p:cNvSpPr txBox="1"/>
          <p:nvPr/>
        </p:nvSpPr>
        <p:spPr>
          <a:xfrm>
            <a:off x="8044891" y="4626864"/>
            <a:ext cx="1157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Trimestral</a:t>
            </a:r>
            <a:endParaRPr lang="en-US" sz="1100" dirty="0"/>
          </a:p>
        </p:txBody>
      </p:sp>
      <p:sp>
        <p:nvSpPr>
          <p:cNvPr id="58" name="Nombre N"/>
          <p:cNvSpPr txBox="1"/>
          <p:nvPr/>
        </p:nvSpPr>
        <p:spPr>
          <a:xfrm>
            <a:off x="7496251" y="5157216"/>
            <a:ext cx="17062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Kits base por enlace</a:t>
            </a:r>
            <a:endParaRPr lang="en-US" sz="1400" dirty="0"/>
          </a:p>
        </p:txBody>
      </p:sp>
      <p:sp>
        <p:nvSpPr>
          <p:cNvPr id="59" name="Tablero central"/>
          <p:cNvSpPr/>
          <p:nvPr/>
        </p:nvSpPr>
        <p:spPr>
          <a:xfrm>
            <a:off x="9568282" y="4517136"/>
            <a:ext cx="2072030" cy="1389888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</p:spPr>
      </p:sp>
      <p:sp>
        <p:nvSpPr>
          <p:cNvPr id="60" name="Texto tablero central"/>
          <p:cNvSpPr txBox="1"/>
          <p:nvPr/>
        </p:nvSpPr>
        <p:spPr>
          <a:xfrm>
            <a:off x="9751162" y="4608576"/>
            <a:ext cx="170627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Tablero central = B + C + F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¿Hay material? ¿Quién lo pidió? ¿Dónde está?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Hoja de ruta: 3 fases en 6 meses</a:t>
            </a:r>
            <a:endParaRPr lang="en-US" sz="3200" dirty="0"/>
          </a:p>
        </p:txBody>
      </p:sp>
      <p:sp>
        <p:nvSpPr>
          <p:cNvPr id="3" name="Guía mes 0"/>
          <p:cNvSpPr/>
          <p:nvPr/>
        </p:nvSpPr>
        <p:spPr>
          <a:xfrm>
            <a:off x="3383280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" name="Etiqueta mes 0"/>
          <p:cNvSpPr txBox="1"/>
          <p:nvPr/>
        </p:nvSpPr>
        <p:spPr>
          <a:xfrm>
            <a:off x="338328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Hoy</a:t>
            </a:r>
            <a:endParaRPr lang="en-US" sz="1200" dirty="0"/>
          </a:p>
        </p:txBody>
      </p:sp>
      <p:sp>
        <p:nvSpPr>
          <p:cNvPr id="5" name="Guía mes 1"/>
          <p:cNvSpPr/>
          <p:nvPr/>
        </p:nvSpPr>
        <p:spPr>
          <a:xfrm>
            <a:off x="4759452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Etiqueta mes 1"/>
          <p:cNvSpPr txBox="1"/>
          <p:nvPr/>
        </p:nvSpPr>
        <p:spPr>
          <a:xfrm>
            <a:off x="4302252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Mes 1</a:t>
            </a:r>
            <a:endParaRPr lang="en-US" sz="1200" dirty="0"/>
          </a:p>
        </p:txBody>
      </p:sp>
      <p:sp>
        <p:nvSpPr>
          <p:cNvPr id="7" name="Guía mes 2"/>
          <p:cNvSpPr/>
          <p:nvPr/>
        </p:nvSpPr>
        <p:spPr>
          <a:xfrm>
            <a:off x="6135624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" name="Etiqueta mes 2"/>
          <p:cNvSpPr txBox="1"/>
          <p:nvPr/>
        </p:nvSpPr>
        <p:spPr>
          <a:xfrm>
            <a:off x="5678424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Mes 2</a:t>
            </a:r>
            <a:endParaRPr lang="en-US" sz="1200" dirty="0"/>
          </a:p>
        </p:txBody>
      </p:sp>
      <p:sp>
        <p:nvSpPr>
          <p:cNvPr id="9" name="Guía mes 3"/>
          <p:cNvSpPr/>
          <p:nvPr/>
        </p:nvSpPr>
        <p:spPr>
          <a:xfrm>
            <a:off x="7511796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0" name="Etiqueta mes 3"/>
          <p:cNvSpPr txBox="1"/>
          <p:nvPr/>
        </p:nvSpPr>
        <p:spPr>
          <a:xfrm>
            <a:off x="7054596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Mes 3</a:t>
            </a:r>
            <a:endParaRPr lang="en-US" sz="1200" dirty="0"/>
          </a:p>
        </p:txBody>
      </p:sp>
      <p:sp>
        <p:nvSpPr>
          <p:cNvPr id="11" name="Guía mes 4"/>
          <p:cNvSpPr/>
          <p:nvPr/>
        </p:nvSpPr>
        <p:spPr>
          <a:xfrm>
            <a:off x="8887968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Etiqueta mes 4"/>
          <p:cNvSpPr txBox="1"/>
          <p:nvPr/>
        </p:nvSpPr>
        <p:spPr>
          <a:xfrm>
            <a:off x="8430768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Mes 4</a:t>
            </a:r>
            <a:endParaRPr lang="en-US" sz="1200" dirty="0"/>
          </a:p>
        </p:txBody>
      </p:sp>
      <p:sp>
        <p:nvSpPr>
          <p:cNvPr id="13" name="Guía mes 5"/>
          <p:cNvSpPr/>
          <p:nvPr/>
        </p:nvSpPr>
        <p:spPr>
          <a:xfrm>
            <a:off x="10264140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mes 5"/>
          <p:cNvSpPr txBox="1"/>
          <p:nvPr/>
        </p:nvSpPr>
        <p:spPr>
          <a:xfrm>
            <a:off x="98069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Mes 5</a:t>
            </a:r>
            <a:endParaRPr lang="en-US" sz="1200" dirty="0"/>
          </a:p>
        </p:txBody>
      </p:sp>
      <p:sp>
        <p:nvSpPr>
          <p:cNvPr id="15" name="Guía mes 6"/>
          <p:cNvSpPr/>
          <p:nvPr/>
        </p:nvSpPr>
        <p:spPr>
          <a:xfrm>
            <a:off x="11640312" y="1783080"/>
            <a:ext cx="0" cy="425196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6" name="Etiqueta mes 6"/>
          <p:cNvSpPr txBox="1"/>
          <p:nvPr/>
        </p:nvSpPr>
        <p:spPr>
          <a:xfrm>
            <a:off x="10725912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Mes 6</a:t>
            </a:r>
            <a:endParaRPr lang="en-US" sz="1200" dirty="0"/>
          </a:p>
        </p:txBody>
      </p:sp>
      <p:sp>
        <p:nvSpPr>
          <p:cNvPr id="17" name="Fase 1"/>
          <p:cNvSpPr txBox="1"/>
          <p:nvPr/>
        </p:nvSpPr>
        <p:spPr>
          <a:xfrm>
            <a:off x="54864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Victorias rápidas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 a 4 semanas</a:t>
            </a:r>
            <a:endParaRPr lang="en-US" sz="1500" dirty="0"/>
          </a:p>
        </p:txBody>
      </p:sp>
      <p:sp>
        <p:nvSpPr>
          <p:cNvPr id="18" name="Requisito fase 1"/>
          <p:cNvSpPr txBox="1"/>
          <p:nvPr/>
        </p:nvSpPr>
        <p:spPr>
          <a:xfrm>
            <a:off x="548640" y="2834640"/>
            <a:ext cx="914400" cy="292608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Sin TI</a:t>
            </a:r>
            <a:endParaRPr lang="en-US" sz="1100" dirty="0"/>
          </a:p>
        </p:txBody>
      </p:sp>
      <p:sp>
        <p:nvSpPr>
          <p:cNvPr id="19" name="Barra fase 1"/>
          <p:cNvSpPr/>
          <p:nvPr/>
        </p:nvSpPr>
        <p:spPr>
          <a:xfrm>
            <a:off x="3410712" y="1938528"/>
            <a:ext cx="1321308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/>
        </p:spPr>
      </p:sp>
      <p:sp>
        <p:nvSpPr>
          <p:cNvPr id="20" name="Entregables fase 1"/>
          <p:cNvSpPr txBox="1"/>
          <p:nvPr/>
        </p:nvSpPr>
        <p:spPr>
          <a:xfrm>
            <a:off x="3383280" y="2423160"/>
            <a:ext cx="8257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Tablero B+C+F · matriz de prioridad · citas confirmadas · matriz de dueños de proyecto · bitácora de cuentas · catálogo genérico → SKU</a:t>
            </a:r>
            <a:endParaRPr lang="en-US" sz="1400" dirty="0"/>
          </a:p>
        </p:txBody>
      </p:sp>
      <p:sp>
        <p:nvSpPr>
          <p:cNvPr id="21" name="Fase 2"/>
          <p:cNvSpPr txBox="1"/>
          <p:nvPr/>
        </p:nvSpPr>
        <p:spPr>
          <a:xfrm>
            <a:off x="54864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Configuración de Oracle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 a 3 meses</a:t>
            </a:r>
            <a:endParaRPr lang="en-US" sz="1500" dirty="0"/>
          </a:p>
        </p:txBody>
      </p:sp>
      <p:sp>
        <p:nvSpPr>
          <p:cNvPr id="22" name="Requisito fase 2"/>
          <p:cNvSpPr txBox="1"/>
          <p:nvPr/>
        </p:nvSpPr>
        <p:spPr>
          <a:xfrm>
            <a:off x="548640" y="4251960"/>
            <a:ext cx="1229868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Requiere TI</a:t>
            </a:r>
            <a:endParaRPr lang="en-US" sz="1100" dirty="0"/>
          </a:p>
        </p:txBody>
      </p:sp>
      <p:sp>
        <p:nvSpPr>
          <p:cNvPr id="23" name="Barra fase 2"/>
          <p:cNvSpPr/>
          <p:nvPr/>
        </p:nvSpPr>
        <p:spPr>
          <a:xfrm>
            <a:off x="4786884" y="3355848"/>
            <a:ext cx="26974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</p:sp>
      <p:sp>
        <p:nvSpPr>
          <p:cNvPr id="24" name="Entregables fase 2"/>
          <p:cNvSpPr txBox="1"/>
          <p:nvPr/>
        </p:nvSpPr>
        <p:spPr>
          <a:xfrm>
            <a:off x="3383280" y="3840480"/>
            <a:ext cx="8257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 Preparador · entrega parcial y backorder · reservas al aprobar · acceso de consulta · control de lotes y lote divisible</a:t>
            </a:r>
            <a:endParaRPr lang="en-US" sz="1400" dirty="0"/>
          </a:p>
        </p:txBody>
      </p:sp>
      <p:sp>
        <p:nvSpPr>
          <p:cNvPr id="25" name="Fase 3"/>
          <p:cNvSpPr txBox="1"/>
          <p:nvPr/>
        </p:nvSpPr>
        <p:spPr>
          <a:xfrm>
            <a:off x="548640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Estructural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3 a 6 meses</a:t>
            </a:r>
            <a:endParaRPr lang="en-US" sz="1500" dirty="0"/>
          </a:p>
        </p:txBody>
      </p:sp>
      <p:sp>
        <p:nvSpPr>
          <p:cNvPr id="26" name="Requisito fase 3"/>
          <p:cNvSpPr txBox="1"/>
          <p:nvPr/>
        </p:nvSpPr>
        <p:spPr>
          <a:xfrm>
            <a:off x="548640" y="5669280"/>
            <a:ext cx="2011680" cy="292608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TI + Legal y Compras</a:t>
            </a:r>
            <a:endParaRPr lang="en-US" sz="1100" dirty="0"/>
          </a:p>
        </p:txBody>
      </p:sp>
      <p:sp>
        <p:nvSpPr>
          <p:cNvPr id="27" name="Barra fase 3"/>
          <p:cNvSpPr/>
          <p:nvPr/>
        </p:nvSpPr>
        <p:spPr>
          <a:xfrm>
            <a:off x="7539228" y="4773168"/>
            <a:ext cx="4073652" cy="384048"/>
          </a:xfrm>
          <a:prstGeom prst="roundRect">
            <a:avLst>
              <a:gd name="adj" fmla="val 23810"/>
            </a:avLst>
          </a:prstGeom>
          <a:solidFill>
            <a:schemeClr val="tx2"/>
          </a:solidFill>
          <a:ln/>
        </p:spPr>
      </p:sp>
      <p:sp>
        <p:nvSpPr>
          <p:cNvPr id="28" name="Entregables fase 3"/>
          <p:cNvSpPr txBox="1"/>
          <p:nvPr/>
        </p:nvSpPr>
        <p:spPr>
          <a:xfrm>
            <a:off x="3383280" y="5257800"/>
            <a:ext cx="8257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Subinventario por contratista · motor de solicitud masiva · carga por interfaz · Borrow/Payback · SLA en contratos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mediremos la mejora: 7 indicadores</a:t>
            </a:r>
            <a:endParaRPr lang="en-US" sz="3200" dirty="0"/>
          </a:p>
        </p:txBody>
      </p:sp>
      <p:sp>
        <p:nvSpPr>
          <p:cNvPr id="3" name="Indicador 1"/>
          <p:cNvSpPr/>
          <p:nvPr/>
        </p:nvSpPr>
        <p:spPr>
          <a:xfrm>
            <a:off x="548640" y="1371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Indicador 1 círculo"/>
          <p:cNvSpPr/>
          <p:nvPr/>
        </p:nvSpPr>
        <p:spPr>
          <a:xfrm>
            <a:off x="749808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dicador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98" y="1703070"/>
            <a:ext cx="297180" cy="297180"/>
          </a:xfrm>
          <a:prstGeom prst="rect">
            <a:avLst/>
          </a:prstGeom>
        </p:spPr>
      </p:pic>
      <p:sp>
        <p:nvSpPr>
          <p:cNvPr id="6" name="Texto indicador 1"/>
          <p:cNvSpPr txBox="1"/>
          <p:nvPr/>
        </p:nvSpPr>
        <p:spPr>
          <a:xfrm>
            <a:off x="1508760" y="1371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Solicitudes canceladas por falta de stock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Meta: menos del 5 %</a:t>
            </a:r>
            <a:endParaRPr lang="en-US" sz="1500" dirty="0"/>
          </a:p>
        </p:txBody>
      </p:sp>
      <p:sp>
        <p:nvSpPr>
          <p:cNvPr id="7" name="Indicador 2"/>
          <p:cNvSpPr/>
          <p:nvPr/>
        </p:nvSpPr>
        <p:spPr>
          <a:xfrm>
            <a:off x="548640" y="2514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8" name="Indicador 2 círculo"/>
          <p:cNvSpPr/>
          <p:nvPr/>
        </p:nvSpPr>
        <p:spPr>
          <a:xfrm>
            <a:off x="749808" y="2697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dicador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" y="2846070"/>
            <a:ext cx="297180" cy="297180"/>
          </a:xfrm>
          <a:prstGeom prst="rect">
            <a:avLst/>
          </a:prstGeom>
        </p:spPr>
      </p:pic>
      <p:sp>
        <p:nvSpPr>
          <p:cNvPr id="10" name="Texto indicador 2"/>
          <p:cNvSpPr txBox="1"/>
          <p:nvPr/>
        </p:nvSpPr>
        <p:spPr>
          <a:xfrm>
            <a:off x="1508760" y="2514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Días entre la solicitud y la entrega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Promedio por proyecto</a:t>
            </a:r>
            <a:endParaRPr lang="en-US" sz="1500" dirty="0"/>
          </a:p>
        </p:txBody>
      </p:sp>
      <p:sp>
        <p:nvSpPr>
          <p:cNvPr id="11" name="Indicador 3"/>
          <p:cNvSpPr/>
          <p:nvPr/>
        </p:nvSpPr>
        <p:spPr>
          <a:xfrm>
            <a:off x="548640" y="3657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2" name="Indicador 3 círculo"/>
          <p:cNvSpPr/>
          <p:nvPr/>
        </p:nvSpPr>
        <p:spPr>
          <a:xfrm>
            <a:off x="749808" y="3840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dicador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3989070"/>
            <a:ext cx="297180" cy="297180"/>
          </a:xfrm>
          <a:prstGeom prst="rect">
            <a:avLst/>
          </a:prstGeom>
        </p:spPr>
      </p:pic>
      <p:sp>
        <p:nvSpPr>
          <p:cNvPr id="14" name="Texto indicador 3"/>
          <p:cNvSpPr txBox="1"/>
          <p:nvPr/>
        </p:nvSpPr>
        <p:spPr>
          <a:xfrm>
            <a:off x="1508760" y="3657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Citas cumplidas por contratista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% que llega el día acordado</a:t>
            </a:r>
            <a:endParaRPr lang="en-US" sz="1500" dirty="0"/>
          </a:p>
        </p:txBody>
      </p:sp>
      <p:sp>
        <p:nvSpPr>
          <p:cNvPr id="15" name="Indicador 4"/>
          <p:cNvSpPr/>
          <p:nvPr/>
        </p:nvSpPr>
        <p:spPr>
          <a:xfrm>
            <a:off x="548640" y="4800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6" name="Indicador 4 círculo"/>
          <p:cNvSpPr/>
          <p:nvPr/>
        </p:nvSpPr>
        <p:spPr>
          <a:xfrm>
            <a:off x="749808" y="4983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dicador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98" y="5132070"/>
            <a:ext cx="297180" cy="297180"/>
          </a:xfrm>
          <a:prstGeom prst="rect">
            <a:avLst/>
          </a:prstGeom>
        </p:spPr>
      </p:pic>
      <p:sp>
        <p:nvSpPr>
          <p:cNvPr id="18" name="Texto indicador 4"/>
          <p:cNvSpPr txBox="1"/>
          <p:nvPr/>
        </p:nvSpPr>
        <p:spPr>
          <a:xfrm>
            <a:off x="1508760" y="4800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Días entre la ejecución y el cierre en el RPT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Meta: cierre técnico en 5 días hábiles</a:t>
            </a:r>
            <a:endParaRPr lang="en-US" sz="1500" dirty="0"/>
          </a:p>
        </p:txBody>
      </p:sp>
      <p:sp>
        <p:nvSpPr>
          <p:cNvPr id="19" name="Indicador 5"/>
          <p:cNvSpPr/>
          <p:nvPr/>
        </p:nvSpPr>
        <p:spPr>
          <a:xfrm>
            <a:off x="6231636" y="1371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0" name="Indicador 5 círculo"/>
          <p:cNvSpPr/>
          <p:nvPr/>
        </p:nvSpPr>
        <p:spPr>
          <a:xfrm>
            <a:off x="6432804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ndicador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394" y="1703070"/>
            <a:ext cx="297180" cy="297180"/>
          </a:xfrm>
          <a:prstGeom prst="rect">
            <a:avLst/>
          </a:prstGeom>
        </p:spPr>
      </p:pic>
      <p:sp>
        <p:nvSpPr>
          <p:cNvPr id="22" name="Texto indicador 5"/>
          <p:cNvSpPr txBox="1"/>
          <p:nvPr/>
        </p:nvSpPr>
        <p:spPr>
          <a:xfrm>
            <a:off x="7191756" y="1371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Diferencia entre conciliación y conteo físico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Por contratista y material</a:t>
            </a:r>
            <a:endParaRPr lang="en-US" sz="1500" dirty="0"/>
          </a:p>
        </p:txBody>
      </p:sp>
      <p:sp>
        <p:nvSpPr>
          <p:cNvPr id="23" name="Indicador 6"/>
          <p:cNvSpPr/>
          <p:nvPr/>
        </p:nvSpPr>
        <p:spPr>
          <a:xfrm>
            <a:off x="6231636" y="2514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4" name="Indicador 6 círculo"/>
          <p:cNvSpPr/>
          <p:nvPr/>
        </p:nvSpPr>
        <p:spPr>
          <a:xfrm>
            <a:off x="6432804" y="2697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ndicador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394" y="2846070"/>
            <a:ext cx="297180" cy="297180"/>
          </a:xfrm>
          <a:prstGeom prst="rect">
            <a:avLst/>
          </a:prstGeom>
        </p:spPr>
      </p:pic>
      <p:sp>
        <p:nvSpPr>
          <p:cNvPr id="26" name="Texto indicador 6"/>
          <p:cNvSpPr txBox="1"/>
          <p:nvPr/>
        </p:nvSpPr>
        <p:spPr>
          <a:xfrm>
            <a:off x="7191756" y="2514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Días de un traspaso entre proyectos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Meta: 48 a 72 h (hoy ~2 semanas)</a:t>
            </a:r>
            <a:endParaRPr lang="en-US" sz="1500" dirty="0"/>
          </a:p>
        </p:txBody>
      </p:sp>
      <p:sp>
        <p:nvSpPr>
          <p:cNvPr id="27" name="Indicador 7"/>
          <p:cNvSpPr/>
          <p:nvPr/>
        </p:nvSpPr>
        <p:spPr>
          <a:xfrm>
            <a:off x="6231636" y="3657600"/>
            <a:ext cx="54086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8" name="Indicador 7 círculo"/>
          <p:cNvSpPr/>
          <p:nvPr/>
        </p:nvSpPr>
        <p:spPr>
          <a:xfrm>
            <a:off x="6432804" y="3840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ndicador 7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394" y="3989070"/>
            <a:ext cx="297180" cy="297180"/>
          </a:xfrm>
          <a:prstGeom prst="rect">
            <a:avLst/>
          </a:prstGeom>
        </p:spPr>
      </p:pic>
      <p:sp>
        <p:nvSpPr>
          <p:cNvPr id="30" name="Texto indicador 7"/>
          <p:cNvSpPr txBox="1"/>
          <p:nvPr/>
        </p:nvSpPr>
        <p:spPr>
          <a:xfrm>
            <a:off x="7191756" y="3657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Valor del stock con más de 150 días en contratistas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Alerta al día 150, antes de la devolución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Estado del avance y próximos pasos</a:t>
            </a:r>
            <a:endParaRPr lang="en-US" sz="3200" dirty="0"/>
          </a:p>
        </p:txBody>
      </p:sp>
      <p:sp>
        <p:nvSpPr>
          <p:cNvPr id="3" name="Columna Completado"/>
          <p:cNvSpPr/>
          <p:nvPr/>
        </p:nvSpPr>
        <p:spPr>
          <a:xfrm>
            <a:off x="548640" y="1417320"/>
            <a:ext cx="3514344" cy="4572000"/>
          </a:xfrm>
          <a:prstGeom prst="roundRect">
            <a:avLst>
              <a:gd name="adj" fmla="val 3122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Columna Completado círculo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Columna Completad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6" name="Título Completado"/>
          <p:cNvSpPr txBox="1"/>
          <p:nvPr/>
        </p:nvSpPr>
        <p:spPr>
          <a:xfrm>
            <a:off x="1600200" y="169164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Completado</a:t>
            </a:r>
            <a:endParaRPr lang="en-US" sz="2000" dirty="0"/>
          </a:p>
        </p:txBody>
      </p:sp>
      <p:sp>
        <p:nvSpPr>
          <p:cNvPr id="7" name="Lista Completado"/>
          <p:cNvSpPr txBox="1"/>
          <p:nvPr/>
        </p:nvSpPr>
        <p:spPr>
          <a:xfrm>
            <a:off x="822960" y="2560320"/>
            <a:ext cx="30114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Mapeo del flujo actual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12 mejoras priorizadas con propuesta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Diseño del motor de solicitud masiva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Simulador de lotes de fibra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Archivos de control, hoja de ruta e indicadores</a:t>
            </a:r>
            <a:endParaRPr lang="en-US" sz="1500" dirty="0"/>
          </a:p>
        </p:txBody>
      </p:sp>
      <p:sp>
        <p:nvSpPr>
          <p:cNvPr id="8" name="Columna Por confirmar"/>
          <p:cNvSpPr/>
          <p:nvPr/>
        </p:nvSpPr>
        <p:spPr>
          <a:xfrm>
            <a:off x="4337304" y="1417320"/>
            <a:ext cx="3514344" cy="4572000"/>
          </a:xfrm>
          <a:prstGeom prst="roundRect">
            <a:avLst>
              <a:gd name="adj" fmla="val 3122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Columna Por confirmar círculo"/>
          <p:cNvSpPr/>
          <p:nvPr/>
        </p:nvSpPr>
        <p:spPr>
          <a:xfrm>
            <a:off x="4611624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Columna Por confirmar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1851660"/>
            <a:ext cx="320040" cy="320040"/>
          </a:xfrm>
          <a:prstGeom prst="rect">
            <a:avLst/>
          </a:prstGeom>
        </p:spPr>
      </p:pic>
      <p:sp>
        <p:nvSpPr>
          <p:cNvPr id="11" name="Título Por confirmar"/>
          <p:cNvSpPr txBox="1"/>
          <p:nvPr/>
        </p:nvSpPr>
        <p:spPr>
          <a:xfrm>
            <a:off x="5388864" y="169164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Por confirmar</a:t>
            </a:r>
            <a:endParaRPr lang="en-US" sz="2000" dirty="0"/>
          </a:p>
        </p:txBody>
      </p:sp>
      <p:sp>
        <p:nvSpPr>
          <p:cNvPr id="12" name="Lista Por confirmar"/>
          <p:cNvSpPr txBox="1"/>
          <p:nvPr/>
        </p:nvSpPr>
        <p:spPr>
          <a:xfrm>
            <a:off x="4611624" y="2560320"/>
            <a:ext cx="30114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¿Oracle EBS o Fusion?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¿Requisición u orden de movimiento?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Longitud mínima útil de fibra y si el lote es divisible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N.º de contratistas y si el contrato tiene SLA o penalidades</a:t>
            </a:r>
            <a:endParaRPr lang="en-US" sz="1500" dirty="0"/>
          </a:p>
        </p:txBody>
      </p:sp>
      <p:sp>
        <p:nvSpPr>
          <p:cNvPr id="13" name="Columna Siguiente paso"/>
          <p:cNvSpPr/>
          <p:nvPr/>
        </p:nvSpPr>
        <p:spPr>
          <a:xfrm>
            <a:off x="8125968" y="1417320"/>
            <a:ext cx="3514344" cy="4572000"/>
          </a:xfrm>
          <a:prstGeom prst="roundRect">
            <a:avLst>
              <a:gd name="adj" fmla="val 3122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4" name="Columna Siguiente paso círculo"/>
          <p:cNvSpPr/>
          <p:nvPr/>
        </p:nvSpPr>
        <p:spPr>
          <a:xfrm>
            <a:off x="8400288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Columna Siguiente pas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308" y="1851660"/>
            <a:ext cx="320040" cy="320040"/>
          </a:xfrm>
          <a:prstGeom prst="rect">
            <a:avLst/>
          </a:prstGeom>
        </p:spPr>
      </p:pic>
      <p:sp>
        <p:nvSpPr>
          <p:cNvPr id="16" name="Título Siguiente paso"/>
          <p:cNvSpPr txBox="1"/>
          <p:nvPr/>
        </p:nvSpPr>
        <p:spPr>
          <a:xfrm>
            <a:off x="9177528" y="169164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Siguiente paso</a:t>
            </a:r>
            <a:endParaRPr lang="en-US" sz="2000" dirty="0"/>
          </a:p>
        </p:txBody>
      </p:sp>
      <p:sp>
        <p:nvSpPr>
          <p:cNvPr id="17" name="Lista Siguiente paso"/>
          <p:cNvSpPr txBox="1"/>
          <p:nvPr/>
        </p:nvSpPr>
        <p:spPr>
          <a:xfrm>
            <a:off x="8400288" y="2560320"/>
            <a:ext cx="30114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Recibir ejemplos anonimizados de la asignación, un KMZ y el RPT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Construir el prototipo del motor de solicitud masiva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Iniciar las victorias rápidas, que no requieren TI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bra Logistica">
  <a:themeElements>
    <a:clrScheme name="Fibra Logistica">
      <a:dk1>
        <a:srgbClr val="1A2B36"/>
      </a:dk1>
      <a:lt1>
        <a:srgbClr val="FFFFFF"/>
      </a:lt1>
      <a:dk2>
        <a:srgbClr val="0F3A4A"/>
      </a:dk2>
      <a:lt2>
        <a:srgbClr val="EEF3F4"/>
      </a:lt2>
      <a:accent1>
        <a:srgbClr val="0E7C86"/>
      </a:accent1>
      <a:accent2>
        <a:srgbClr val="E8801E"/>
      </a:accent2>
      <a:accent3>
        <a:srgbClr val="C0392B"/>
      </a:accent3>
      <a:accent4>
        <a:srgbClr val="C98A10"/>
      </a:accent4>
      <a:accent5>
        <a:srgbClr val="3C8D40"/>
      </a:accent5>
      <a:accent6>
        <a:srgbClr val="5B6B73"/>
      </a:accent6>
      <a:hlink>
        <a:srgbClr val="0E7C86"/>
      </a:hlink>
      <a:folHlink>
        <a:srgbClr val="5B6B73"/>
      </a:folHlink>
    </a:clrScheme>
    <a:fontScheme name="Fibra Logistic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materiales: avance v1</dc:title>
  <dc:subject>PptxGenJS Presentation</dc:subject>
  <dc:creator>Equipo de logística</dc:creator>
  <cp:lastModifiedBy>Equipo de logística</cp:lastModifiedBy>
  <cp:revision>1</cp:revision>
  <dcterms:created xsi:type="dcterms:W3CDTF">2026-10-05T14:27:19Z</dcterms:created>
  <dcterms:modified xsi:type="dcterms:W3CDTF">2026-10-05T14:27:19Z</dcterms:modified>
</cp:coreProperties>
</file>